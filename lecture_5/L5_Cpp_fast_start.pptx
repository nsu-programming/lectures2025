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7" r:id="rId2"/>
    <p:sldId id="302" r:id="rId3"/>
    <p:sldId id="307" r:id="rId4"/>
    <p:sldId id="289" r:id="rId5"/>
    <p:sldId id="305" r:id="rId6"/>
    <p:sldId id="306" r:id="rId7"/>
    <p:sldId id="308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25" r:id="rId18"/>
    <p:sldId id="319" r:id="rId19"/>
    <p:sldId id="322" r:id="rId20"/>
    <p:sldId id="323" r:id="rId21"/>
    <p:sldId id="324" r:id="rId22"/>
    <p:sldId id="321" r:id="rId23"/>
    <p:sldId id="320" r:id="rId24"/>
    <p:sldId id="303" r:id="rId25"/>
    <p:sldId id="288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6855-BD1B-41D7-A116-2AED496DFC6B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363-011B-45B1-9051-AB674AE26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AE16-BBAD-D1A3-DC43-EFA543D7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33C2-745F-8598-0505-47D65E59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0654A-0CBD-7B1F-E594-EEE92AE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4D139-E9E6-EF49-F095-86C70672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4D762-CED8-6E25-9D86-698FAB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0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936C59-3A96-481F-8644-EB41A6C92C2A}"/>
              </a:ext>
            </a:extLst>
          </p:cNvPr>
          <p:cNvSpPr/>
          <p:nvPr userDrawn="1"/>
        </p:nvSpPr>
        <p:spPr>
          <a:xfrm>
            <a:off x="11463058" y="0"/>
            <a:ext cx="7289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BCFE-B6F4-1C39-EEA6-A586561B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B070D-432C-E52E-F557-A7E21A39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0869-84F3-7F04-EE71-02759646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233004" y="735747"/>
            <a:ext cx="1189038" cy="4477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30.10.2025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14F1A-5FD3-C2F4-BC82-68C7FBC8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051" y="6231420"/>
            <a:ext cx="728941" cy="62658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fld id="{AA295499-41D7-4CFD-B89A-D819E824B9F7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E881AE-1FC5-6C05-6172-119698C2F6A1}"/>
              </a:ext>
            </a:extLst>
          </p:cNvPr>
          <p:cNvCxnSpPr>
            <a:cxnSpLocks/>
          </p:cNvCxnSpPr>
          <p:nvPr userDrawn="1"/>
        </p:nvCxnSpPr>
        <p:spPr>
          <a:xfrm>
            <a:off x="1146305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E226A-354C-F68D-1563-1F9656E3FE9E}"/>
              </a:ext>
            </a:extLst>
          </p:cNvPr>
          <p:cNvSpPr txBox="1"/>
          <p:nvPr userDrawn="1"/>
        </p:nvSpPr>
        <p:spPr>
          <a:xfrm rot="16200000">
            <a:off x="9477860" y="3611436"/>
            <a:ext cx="4699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Программирование на C++ и Python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i="1" dirty="0">
                <a:solidFill>
                  <a:schemeClr val="bg1"/>
                </a:solidFill>
              </a:rPr>
              <a:t>C++ </a:t>
            </a:r>
            <a:r>
              <a:rPr lang="ru-RU" sz="1600" i="1" dirty="0">
                <a:solidFill>
                  <a:schemeClr val="bg1"/>
                </a:solidFill>
              </a:rPr>
              <a:t>Быстрый старт</a:t>
            </a:r>
          </a:p>
        </p:txBody>
      </p:sp>
    </p:spTree>
    <p:extLst>
      <p:ext uri="{BB962C8B-B14F-4D97-AF65-F5344CB8AC3E}">
        <p14:creationId xmlns:p14="http://schemas.microsoft.com/office/powerpoint/2010/main" val="5339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CF869-F21B-71D2-E3DE-C018CBD8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77452-3027-F0A8-CDFF-DA3F0A12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EC625-A462-C205-7482-9F4DBD97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AE46E-EB40-0B37-96BD-EB15C77C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7D0C4-D203-FC30-FB98-F1D8B32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2852-8E51-11BE-414A-B36FD941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C4719F-10B9-DA0A-5647-68A49F17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39CF65-2FA4-CD54-68CB-B5DF48A2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9FC6B-2C01-9AC1-7F77-CF883B4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D37D3-272C-126C-3AE3-7A2BF2B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D7104-3143-1914-EB00-75240C8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9D350-6650-4230-2C24-5AA41F9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AA37F-C35E-B5BD-B599-663017C8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D2E35-32EE-7D48-6150-7A5A1C0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A7D305-FC41-2309-1D16-C9966E867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C4AE0-CC76-ED4C-B30F-7C3A962E1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EB116-E85A-D3D0-A6A8-D584938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B91292-89FA-9C81-B8AF-8A0BD5B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09CAD4-09BC-B0D1-E9A5-1391BA6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B5A7-8B8E-8CF0-ABA9-59443B86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E187F-2CCF-2E5B-241A-C185A03B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92E1A2-E283-FBA5-ECF3-E90DCE8C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6CB76-96C3-317A-99A5-C70A837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6921E4-0E1D-C227-2AC4-CD819D99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481B8-E31C-596A-9CB6-0DFE2D85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823AE-F92F-E679-6BC0-03292BA7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C8A-4370-58D9-D99F-C6CCBD14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95E1D-9CAF-AADA-34EF-DC23B2A1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02D01-A0BB-FE90-DC2A-FCC99F29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2733E-4D04-D4D5-6EC3-0748B3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B55313-569A-84B6-3EAD-A29FCC4D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6D104-B96B-B038-C318-E3FE4B4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DF8D-BE07-49DE-3C71-D2219777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984278-F30E-C86B-49DC-475EA866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0E636-3328-EDB0-D285-C4BD9B49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E3915-036A-B3A8-007B-9AE5194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69358-5D57-A13F-A4FB-23FBA12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6BCB19-CA33-2D75-2A2D-4148AB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0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A243-7AED-58FF-676F-5BB1709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92A23-65DB-772C-70A5-66E4B7F7E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E15E-BD04-5A66-DFD1-D0643B34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8C9516-5908-6BAC-D6E2-57B08025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4BEF3-9E51-88F0-F88F-D18D941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1A639B-D77B-4792-F4B1-88AD0532B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0CDAB-CFF4-3D79-96B5-E8B28D7D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314E-BF64-8E54-265F-3FABCA10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8DF63-7FB3-9558-BD26-CD592024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A87AB-8C03-2009-8687-9C24E04F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9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6F8B-FC94-F820-1AC8-82DD0416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9B613-6163-C7D7-79D6-1D2494A9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B643E-8399-502E-FBF6-F9AD2545B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C9574-2826-4529-8FA9-747903CF3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5BBA-D3AD-7247-17DD-766ADE4AC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oost.org/" TargetMode="External"/><Relationship Id="rId3" Type="http://schemas.openxmlformats.org/officeDocument/2006/relationships/hyperlink" Target="https://isocpp.org/" TargetMode="External"/><Relationship Id="rId7" Type="http://schemas.openxmlformats.org/officeDocument/2006/relationships/hyperlink" Target="https://www.aristeia.com/" TargetMode="External"/><Relationship Id="rId12" Type="http://schemas.openxmlformats.org/officeDocument/2006/relationships/image" Target="../media/image8.jpg"/><Relationship Id="rId2" Type="http://schemas.openxmlformats.org/officeDocument/2006/relationships/hyperlink" Target="https://en.cppreferenc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troustrup.com/" TargetMode="External"/><Relationship Id="rId11" Type="http://schemas.openxmlformats.org/officeDocument/2006/relationships/image" Target="../media/image7.jpg"/><Relationship Id="rId5" Type="http://schemas.openxmlformats.org/officeDocument/2006/relationships/hyperlink" Target="https://www.coursera.org/specializations/c-plus-plus-modern-development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stackoverflow.com/" TargetMode="External"/><Relationship Id="rId9" Type="http://schemas.openxmlformats.org/officeDocument/2006/relationships/hyperlink" Target="https://www.hackerrank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7849-212E-49B2-B839-A3FA895F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2676387"/>
            <a:ext cx="10096107" cy="111807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Программирование на </a:t>
            </a:r>
            <a:r>
              <a:rPr lang="en-US" sz="3200" i="1" dirty="0"/>
              <a:t>C++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/>
              <a:t>Python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E9277-D821-46E7-ABB5-7C51AE68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3950563"/>
            <a:ext cx="7602903" cy="1961966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</a:pPr>
            <a:r>
              <a:rPr lang="ru-RU" sz="2000" dirty="0">
                <a:solidFill>
                  <a:schemeClr val="tx2"/>
                </a:solidFill>
              </a:rPr>
              <a:t>Лекция </a:t>
            </a:r>
            <a:r>
              <a:rPr lang="en-US" sz="2000" dirty="0">
                <a:solidFill>
                  <a:schemeClr val="tx2"/>
                </a:solidFill>
              </a:rPr>
              <a:t>5</a:t>
            </a:r>
            <a:endParaRPr lang="ru-RU" sz="2000" dirty="0">
              <a:solidFill>
                <a:schemeClr val="tx2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2800" dirty="0">
                <a:solidFill>
                  <a:schemeClr val="tx2"/>
                </a:solidFill>
              </a:rPr>
              <a:t>C++ </a:t>
            </a:r>
            <a:r>
              <a:rPr lang="ru-RU" sz="2800" dirty="0">
                <a:solidFill>
                  <a:schemeClr val="tx2"/>
                </a:solidFill>
              </a:rPr>
              <a:t>Быстрый старт</a:t>
            </a:r>
          </a:p>
          <a:p>
            <a:pPr algn="ctr">
              <a:spcBef>
                <a:spcPts val="3000"/>
              </a:spcBef>
            </a:pPr>
            <a:r>
              <a:rPr lang="ru-RU" sz="2000" dirty="0">
                <a:solidFill>
                  <a:schemeClr val="tx2"/>
                </a:solidFill>
              </a:rPr>
              <a:t>Охотников Никита Викторович (ИЯФ СО РАН, НГУ)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D59F5D-7420-47B3-A9BA-2C3A05F4230A}"/>
              </a:ext>
            </a:extLst>
          </p:cNvPr>
          <p:cNvSpPr txBox="1">
            <a:spLocks/>
          </p:cNvSpPr>
          <p:nvPr/>
        </p:nvSpPr>
        <p:spPr>
          <a:xfrm>
            <a:off x="443882" y="6049149"/>
            <a:ext cx="11748118" cy="614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solidFill>
                  <a:schemeClr val="tx2"/>
                </a:solidFill>
              </a:rPr>
              <a:t>Новосибирск, 30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ru-RU" sz="1800" dirty="0">
                <a:solidFill>
                  <a:schemeClr val="tx2"/>
                </a:solidFill>
              </a:rPr>
              <a:t>октября 20</a:t>
            </a:r>
            <a:r>
              <a:rPr lang="en-US" sz="1800" dirty="0">
                <a:solidFill>
                  <a:schemeClr val="tx2"/>
                </a:solidFill>
              </a:rPr>
              <a:t>2</a:t>
            </a:r>
            <a:r>
              <a:rPr lang="ru-RU" sz="1800" dirty="0">
                <a:solidFill>
                  <a:schemeClr val="tx2"/>
                </a:solidFill>
              </a:rPr>
              <a:t>5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D4E2AF-1ED1-4F30-B7A9-C2A200E720C9}"/>
              </a:ext>
            </a:extLst>
          </p:cNvPr>
          <p:cNvGrpSpPr/>
          <p:nvPr/>
        </p:nvGrpSpPr>
        <p:grpSpPr>
          <a:xfrm>
            <a:off x="2695193" y="1287263"/>
            <a:ext cx="6990345" cy="1233026"/>
            <a:chOff x="2581523" y="1287263"/>
            <a:chExt cx="6990345" cy="1233026"/>
          </a:xfrm>
          <a:solidFill>
            <a:schemeClr val="bg1"/>
          </a:soli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FA89B05-D9C6-4C73-AE17-A2AA2B920F8D}"/>
                </a:ext>
              </a:extLst>
            </p:cNvPr>
            <p:cNvSpPr/>
            <p:nvPr/>
          </p:nvSpPr>
          <p:spPr>
            <a:xfrm>
              <a:off x="2581523" y="1287263"/>
              <a:ext cx="6990345" cy="1233026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7FCDF20-ECB9-46B9-B36E-570C9B9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9260" y="1437301"/>
              <a:ext cx="2466328" cy="92487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8388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6C46F-7E39-4174-94DB-B3E5CDF8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изучать </a:t>
            </a:r>
            <a:r>
              <a:rPr lang="en-US" i="1" dirty="0"/>
              <a:t>C++   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8ADECB-37D3-43D1-874C-0800FD1A3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9" y="2438399"/>
            <a:ext cx="5007238" cy="3741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i="1" dirty="0"/>
              <a:t>C++</a:t>
            </a:r>
            <a:r>
              <a:rPr lang="ru-RU" sz="2400" dirty="0"/>
              <a:t> быстрый и он развивается</a:t>
            </a:r>
          </a:p>
          <a:p>
            <a:pPr lvl="1">
              <a:lnSpc>
                <a:spcPct val="110000"/>
              </a:lnSpc>
            </a:pPr>
            <a:r>
              <a:rPr lang="ru-RU" sz="1800" b="1" dirty="0">
                <a:solidFill>
                  <a:srgbClr val="C00000"/>
                </a:solidFill>
              </a:rPr>
              <a:t>Быстрый</a:t>
            </a:r>
            <a:r>
              <a:rPr lang="en-US" sz="1800" dirty="0"/>
              <a:t>:</a:t>
            </a:r>
            <a:r>
              <a:rPr lang="ru-RU" sz="1800" dirty="0"/>
              <a:t> это основной язык разработки в коммерческих и научных проектах, в которых важна </a:t>
            </a:r>
            <a:r>
              <a:rPr lang="ru-RU" sz="1800" i="1" dirty="0"/>
              <a:t>эффективность</a:t>
            </a:r>
            <a:r>
              <a:rPr lang="ru-RU" sz="1800" dirty="0"/>
              <a:t> (</a:t>
            </a:r>
            <a:r>
              <a:rPr lang="en-US" sz="1800" dirty="0"/>
              <a:t>OS X, MS Windows, Firefox, Chromium, Adobe Photoshop, Tensorflow,</a:t>
            </a:r>
            <a:r>
              <a:rPr lang="ru-RU" sz="1800" dirty="0"/>
              <a:t> и ещё </a:t>
            </a:r>
            <a:r>
              <a:rPr lang="ru-RU" sz="1800" b="1" dirty="0"/>
              <a:t>очень</a:t>
            </a:r>
            <a:r>
              <a:rPr lang="ru-RU" sz="1800" dirty="0"/>
              <a:t> много чего)</a:t>
            </a:r>
          </a:p>
          <a:p>
            <a:pPr lvl="1">
              <a:lnSpc>
                <a:spcPct val="110000"/>
              </a:lnSpc>
            </a:pPr>
            <a:r>
              <a:rPr lang="ru-RU" sz="1800" b="1" dirty="0">
                <a:solidFill>
                  <a:srgbClr val="C00000"/>
                </a:solidFill>
              </a:rPr>
              <a:t>Развивается</a:t>
            </a:r>
            <a:r>
              <a:rPr lang="ru-RU" sz="1800" dirty="0"/>
              <a:t>: на современном </a:t>
            </a:r>
            <a:r>
              <a:rPr lang="en-US" sz="1800" i="1" dirty="0"/>
              <a:t>C++</a:t>
            </a:r>
            <a:r>
              <a:rPr lang="en-US" sz="1800" dirty="0"/>
              <a:t> </a:t>
            </a:r>
            <a:r>
              <a:rPr lang="ru-RU" sz="1800" dirty="0"/>
              <a:t>можно писать ясный и надёжный код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20140F-EA28-4B25-BF0E-E6B1D7D2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</a:t>
            </a:fld>
            <a:endParaRPr lang="ru-RU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191F57F-7FD6-4762-8ACC-4D8E6BCDF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710" y="426927"/>
            <a:ext cx="1068407" cy="1201958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4643771E-0BF5-4EED-BEFD-4CD98B74D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245" y="2202024"/>
            <a:ext cx="5776912" cy="2360645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F2A580EA-1BA4-41F9-A67B-17A29E1B2370}"/>
              </a:ext>
            </a:extLst>
          </p:cNvPr>
          <p:cNvSpPr txBox="1">
            <a:spLocks/>
          </p:cNvSpPr>
          <p:nvPr/>
        </p:nvSpPr>
        <p:spPr>
          <a:xfrm>
            <a:off x="5548542" y="4760634"/>
            <a:ext cx="5622872" cy="1411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dirty="0"/>
              <a:t>Выпускнику ФФ полезно иметь представление о написании эффективного кода</a:t>
            </a:r>
          </a:p>
          <a:p>
            <a:r>
              <a:rPr lang="ru-RU" dirty="0"/>
              <a:t>Философия </a:t>
            </a:r>
            <a:r>
              <a:rPr lang="en-US" i="1" dirty="0"/>
              <a:t>C++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</a:rPr>
              <a:t>zero cost abstractions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002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53F8-FFDF-4291-9D77-58645FE2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ru-RU" dirty="0"/>
              <a:t>Как мы будем изучать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4496F-7707-41AB-9C89-2CE35CF36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780" y="2535062"/>
            <a:ext cx="5340220" cy="39340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Как высокоуровневый язык программирования</a:t>
            </a:r>
          </a:p>
          <a:p>
            <a:pPr lvl="1"/>
            <a:r>
              <a:rPr lang="ru-RU" dirty="0"/>
              <a:t>А не как развитие языка Си</a:t>
            </a:r>
          </a:p>
          <a:p>
            <a:r>
              <a:rPr lang="ru-RU" dirty="0"/>
              <a:t>Продвинутые возможности языка (классы и шаблоны, динамическое выделение памяти) будем обсуждать в несколько этапов</a:t>
            </a:r>
          </a:p>
          <a:p>
            <a:pPr lvl="1"/>
            <a:r>
              <a:rPr lang="ru-RU" dirty="0"/>
              <a:t>Сначала научимся использовать стандартную библиотеку</a:t>
            </a:r>
          </a:p>
          <a:p>
            <a:pPr lvl="1"/>
            <a:r>
              <a:rPr lang="ru-RU" dirty="0"/>
              <a:t>Потом научимся использовать</a:t>
            </a:r>
            <a:r>
              <a:rPr lang="en-US" dirty="0"/>
              <a:t> </a:t>
            </a:r>
            <a:r>
              <a:rPr lang="ru-RU" dirty="0"/>
              <a:t>продвинутые возможности языка при написании собственных программ</a:t>
            </a:r>
            <a:endParaRPr lang="en-US" dirty="0"/>
          </a:p>
          <a:p>
            <a:r>
              <a:rPr lang="ru-RU" dirty="0"/>
              <a:t>Предполагаем, что вы знакомы с языком Си</a:t>
            </a:r>
          </a:p>
        </p:txBody>
      </p:sp>
      <p:pic>
        <p:nvPicPr>
          <p:cNvPr id="6" name="Picture 5" descr="Graphical user interface, application, PowerPoint&#10;&#10;Description automatically generated">
            <a:extLst>
              <a:ext uri="{FF2B5EF4-FFF2-40B4-BE49-F238E27FC236}">
                <a16:creationId xmlns:a16="http://schemas.microsoft.com/office/drawing/2014/main" id="{40CD73FB-7EE2-40B9-9CB4-4AB09F9FA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15" y="1184793"/>
            <a:ext cx="3973908" cy="2235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CBC49370-63DF-4FC1-8586-7B8260AB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215" y="3784478"/>
            <a:ext cx="3973908" cy="2235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C46F0-FF98-4A85-914D-9D276123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58EDE0D-0787-4A03-969A-A1D77559C4A6}" type="slidenum">
              <a:rPr lang="ru-RU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13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A0B7631-1E6B-4D34-88BE-E538AB0A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 по </a:t>
            </a:r>
            <a:r>
              <a:rPr lang="en-US" i="1" dirty="0"/>
              <a:t>C++</a:t>
            </a:r>
            <a:endParaRPr lang="ru-RU" i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D1F3EC-2A7F-4920-9F9D-D70407CB7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66" y="1714966"/>
            <a:ext cx="5660204" cy="4777274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</a:pPr>
            <a:r>
              <a:rPr lang="en-US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en.cppreference.com</a:t>
            </a:r>
            <a:r>
              <a:rPr lang="en-US" dirty="0"/>
              <a:t>  – </a:t>
            </a:r>
            <a:r>
              <a:rPr lang="ru-RU" dirty="0"/>
              <a:t>документация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isocpp.org</a:t>
            </a:r>
            <a:r>
              <a:rPr lang="en-US" dirty="0"/>
              <a:t> – Standard </a:t>
            </a:r>
            <a:r>
              <a:rPr lang="en-US" i="1" dirty="0"/>
              <a:t>C++</a:t>
            </a:r>
            <a:r>
              <a:rPr lang="en-US" dirty="0"/>
              <a:t> Foundation</a:t>
            </a:r>
          </a:p>
          <a:p>
            <a:pPr>
              <a:spcBef>
                <a:spcPts val="1000"/>
              </a:spcBef>
            </a:pPr>
            <a:r>
              <a:rPr lang="en-US" dirty="0"/>
              <a:t>[</a:t>
            </a:r>
            <a:r>
              <a:rPr lang="ru-RU" dirty="0"/>
              <a:t>Поисковик</a:t>
            </a:r>
            <a:r>
              <a:rPr lang="en-US" dirty="0"/>
              <a:t>]</a:t>
            </a:r>
            <a:r>
              <a:rPr lang="ru-RU" dirty="0"/>
              <a:t> + </a:t>
            </a:r>
            <a:r>
              <a:rPr lang="en-US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stackoverflow.com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>Coursera</a:t>
            </a:r>
            <a:endParaRPr lang="ru-RU" dirty="0"/>
          </a:p>
          <a:p>
            <a:pPr lvl="1"/>
            <a:r>
              <a:rPr lang="ru-RU" dirty="0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Искусство разработки на современном C++</a:t>
            </a:r>
            <a:endParaRPr lang="ru-RU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…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dirty="0">
                <a:solidFill>
                  <a:schemeClr val="tx1"/>
                </a:solidFill>
              </a:rPr>
              <a:t>Книги</a:t>
            </a:r>
          </a:p>
          <a:p>
            <a:pPr lvl="1"/>
            <a:r>
              <a:rPr lang="en-US" dirty="0">
                <a:solidFill>
                  <a:srgbClr val="C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Bjarne Stroustrup</a:t>
            </a:r>
            <a:r>
              <a:rPr lang="en-US" dirty="0"/>
              <a:t> </a:t>
            </a:r>
            <a:r>
              <a:rPr lang="ru-RU" dirty="0"/>
              <a:t>«</a:t>
            </a:r>
            <a:r>
              <a:rPr lang="en-US" dirty="0"/>
              <a:t>The C++ programming language</a:t>
            </a:r>
            <a:r>
              <a:rPr lang="ru-RU" dirty="0"/>
              <a:t>»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Scott Meyers</a:t>
            </a:r>
            <a:r>
              <a:rPr lang="ru-RU" dirty="0"/>
              <a:t> «</a:t>
            </a:r>
            <a:r>
              <a:rPr lang="en-US" dirty="0"/>
              <a:t>Effective C++</a:t>
            </a:r>
            <a:r>
              <a:rPr lang="ru-RU" dirty="0"/>
              <a:t>»</a:t>
            </a:r>
          </a:p>
          <a:p>
            <a:pPr lvl="1"/>
            <a:r>
              <a:rPr lang="en-US" dirty="0"/>
              <a:t>…</a:t>
            </a:r>
            <a:endParaRPr lang="ru-RU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C0000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boost.org</a:t>
            </a:r>
            <a:r>
              <a:rPr lang="en-US" dirty="0"/>
              <a:t> – </a:t>
            </a:r>
            <a:r>
              <a:rPr lang="ru-RU" dirty="0"/>
              <a:t>расширенный набор библиотек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ru-RU" dirty="0"/>
              <a:t>Задачи </a:t>
            </a:r>
            <a:r>
              <a:rPr lang="en-US" dirty="0"/>
              <a:t>online: </a:t>
            </a:r>
            <a:r>
              <a:rPr lang="en-US" dirty="0">
                <a:solidFill>
                  <a:srgbClr val="C0000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hackerrank.com</a:t>
            </a:r>
            <a:r>
              <a:rPr lang="ru-RU" dirty="0"/>
              <a:t> и др.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>…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C8C019-281E-41AD-B602-CC07C0A2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4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9EFE35-9C94-4F3F-B355-1E9E5B876E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4245" b="19910"/>
          <a:stretch/>
        </p:blipFill>
        <p:spPr>
          <a:xfrm>
            <a:off x="11292840" y="-3660"/>
            <a:ext cx="916940" cy="770229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E7EEFE9-8149-4210-9C83-09018E950F97}"/>
              </a:ext>
            </a:extLst>
          </p:cNvPr>
          <p:cNvGrpSpPr/>
          <p:nvPr/>
        </p:nvGrpSpPr>
        <p:grpSpPr>
          <a:xfrm>
            <a:off x="6956977" y="1929725"/>
            <a:ext cx="1844292" cy="2998549"/>
            <a:chOff x="7240555" y="1354529"/>
            <a:chExt cx="1844292" cy="2998549"/>
          </a:xfrm>
        </p:grpSpPr>
        <p:pic>
          <p:nvPicPr>
            <p:cNvPr id="9" name="Picture 8" descr="A person sitting in a chair&#10;&#10;Description automatically generated with low confidence">
              <a:extLst>
                <a:ext uri="{FF2B5EF4-FFF2-40B4-BE49-F238E27FC236}">
                  <a16:creationId xmlns:a16="http://schemas.microsoft.com/office/drawing/2014/main" id="{A48202C8-444F-45B2-BAC7-267D7E945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46800" y="1354529"/>
              <a:ext cx="1838047" cy="240988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8A8686-7E89-424B-97D0-364446D0D83C}"/>
                </a:ext>
              </a:extLst>
            </p:cNvPr>
            <p:cNvSpPr txBox="1"/>
            <p:nvPr/>
          </p:nvSpPr>
          <p:spPr>
            <a:xfrm>
              <a:off x="7240555" y="3768303"/>
              <a:ext cx="183804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Bjarne Stroustrup</a:t>
              </a:r>
              <a:endParaRPr lang="ru-RU" sz="16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A905BC-905F-4BC3-8256-490C803EFE1C}"/>
              </a:ext>
            </a:extLst>
          </p:cNvPr>
          <p:cNvGrpSpPr/>
          <p:nvPr/>
        </p:nvGrpSpPr>
        <p:grpSpPr>
          <a:xfrm>
            <a:off x="9010884" y="3134667"/>
            <a:ext cx="1838046" cy="2812113"/>
            <a:chOff x="9337456" y="3532865"/>
            <a:chExt cx="1838046" cy="2812113"/>
          </a:xfrm>
        </p:grpSpPr>
        <p:pic>
          <p:nvPicPr>
            <p:cNvPr id="7" name="Picture 6" descr="A picture containing person, wall, indoor, posing&#10;&#10;Description automatically generated">
              <a:extLst>
                <a:ext uri="{FF2B5EF4-FFF2-40B4-BE49-F238E27FC236}">
                  <a16:creationId xmlns:a16="http://schemas.microsoft.com/office/drawing/2014/main" id="{472DAA01-59B3-4C85-B41E-6AA9DFCE3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7456" y="3532865"/>
              <a:ext cx="1838046" cy="246298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70391D-2B0C-48A5-BE74-5B8598E52D8E}"/>
                </a:ext>
              </a:extLst>
            </p:cNvPr>
            <p:cNvSpPr txBox="1"/>
            <p:nvPr/>
          </p:nvSpPr>
          <p:spPr>
            <a:xfrm>
              <a:off x="9337456" y="6006424"/>
              <a:ext cx="183804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/>
                <a:t>Scott Meyers</a:t>
              </a:r>
              <a:endParaRPr lang="ru-RU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2022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9A42D3-1DAE-49D2-BAF4-CAF6133E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C++</a:t>
            </a:r>
            <a:r>
              <a:rPr lang="en-US"/>
              <a:t> </a:t>
            </a:r>
            <a:r>
              <a:rPr lang="ru-RU"/>
              <a:t>быстрый старт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EB8E6D-A79F-4E15-9D84-F2896353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9F786-7DA9-4433-B47D-0791B07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8576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2109-C30B-4857-B271-8B3C62A0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Hello, student!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4CD7D-4D94-44B1-B749-14F73C0F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6</a:t>
            </a:fld>
            <a:endParaRPr lang="ru-RU"/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878F302-48BB-451B-B4FD-F6348D96292D}"/>
              </a:ext>
            </a:extLst>
          </p:cNvPr>
          <p:cNvSpPr txBox="1">
            <a:spLocks/>
          </p:cNvSpPr>
          <p:nvPr/>
        </p:nvSpPr>
        <p:spPr>
          <a:xfrm>
            <a:off x="4540050" y="2307761"/>
            <a:ext cx="5760945" cy="38426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"What is your name?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"Hello,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name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EB4062EF-3444-4F97-8424-E04FA295418B}"/>
              </a:ext>
            </a:extLst>
          </p:cNvPr>
          <p:cNvSpPr/>
          <p:nvPr/>
        </p:nvSpPr>
        <p:spPr>
          <a:xfrm>
            <a:off x="755780" y="2068274"/>
            <a:ext cx="3265714" cy="478973"/>
          </a:xfrm>
          <a:prstGeom prst="wedgeRoundRectCallout">
            <a:avLst>
              <a:gd name="adj1" fmla="val 66863"/>
              <a:gd name="adj2" fmla="val 50096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Подключаем библиотеки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7B5C0ADC-DFB2-492A-ABA6-F8B05677EAAF}"/>
              </a:ext>
            </a:extLst>
          </p:cNvPr>
          <p:cNvSpPr/>
          <p:nvPr/>
        </p:nvSpPr>
        <p:spPr>
          <a:xfrm>
            <a:off x="755780" y="2811830"/>
            <a:ext cx="3265714" cy="478973"/>
          </a:xfrm>
          <a:prstGeom prst="wedgeRoundRectCallout">
            <a:avLst>
              <a:gd name="adj1" fmla="val 66863"/>
              <a:gd name="adj2" fmla="val 65680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Поговорим об этом позже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38834D0-E1F2-4ED4-9DE7-E7A1EE4C2174}"/>
              </a:ext>
            </a:extLst>
          </p:cNvPr>
          <p:cNvSpPr/>
          <p:nvPr/>
        </p:nvSpPr>
        <p:spPr>
          <a:xfrm>
            <a:off x="755780" y="3552074"/>
            <a:ext cx="3265714" cy="643812"/>
          </a:xfrm>
          <a:prstGeom prst="wedgeRoundRectCallout">
            <a:avLst>
              <a:gd name="adj1" fmla="val 74474"/>
              <a:gd name="adj2" fmla="val 66848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Вывод текста в стандартный поток вывода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36E54749-E1AA-42AC-9D19-E5A704AA6F2E}"/>
              </a:ext>
            </a:extLst>
          </p:cNvPr>
          <p:cNvSpPr/>
          <p:nvPr/>
        </p:nvSpPr>
        <p:spPr>
          <a:xfrm>
            <a:off x="755780" y="4457157"/>
            <a:ext cx="3265714" cy="441170"/>
          </a:xfrm>
          <a:prstGeom prst="wedgeRoundRectCallout">
            <a:avLst>
              <a:gd name="adj1" fmla="val 73332"/>
              <a:gd name="adj2" fmla="val -1392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Строковая переменная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B68A800D-4C09-4BA6-A286-5563A4B81872}"/>
              </a:ext>
            </a:extLst>
          </p:cNvPr>
          <p:cNvSpPr/>
          <p:nvPr/>
        </p:nvSpPr>
        <p:spPr>
          <a:xfrm>
            <a:off x="755780" y="5159367"/>
            <a:ext cx="3265714" cy="643812"/>
          </a:xfrm>
          <a:prstGeom prst="wedgeRoundRectCallout">
            <a:avLst>
              <a:gd name="adj1" fmla="val 73046"/>
              <a:gd name="adj2" fmla="val -66486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Ввод из стандартного потока ввода</a:t>
            </a:r>
          </a:p>
        </p:txBody>
      </p:sp>
    </p:spTree>
    <p:extLst>
      <p:ext uri="{BB962C8B-B14F-4D97-AF65-F5344CB8AC3E}">
        <p14:creationId xmlns:p14="http://schemas.microsoft.com/office/powerpoint/2010/main" val="84166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ACDA-4E11-46C7-ADA6-80B833C7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ввода-вывода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AA6E-0F30-4F87-B4BF-72483C52D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956" y="1778874"/>
            <a:ext cx="6148236" cy="43933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Ввод и вывод в </a:t>
            </a:r>
            <a:r>
              <a:rPr lang="en-US" i="1" dirty="0"/>
              <a:t>C++</a:t>
            </a:r>
            <a:r>
              <a:rPr lang="ru-RU" dirty="0"/>
              <a:t> реализован с помощью </a:t>
            </a:r>
            <a:r>
              <a:rPr lang="ru-RU" i="1" dirty="0"/>
              <a:t>потоков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Стандартные потоки: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stdin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</a:rPr>
              <a:t>stdout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stderr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Файловые потоки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fstream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[i/o]fstream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Строковые потоки</a:t>
            </a:r>
            <a:r>
              <a:rPr lang="en-US" dirty="0"/>
              <a:t>: </a:t>
            </a:r>
            <a:r>
              <a:rPr lang="en-US" dirty="0" err="1">
                <a:solidFill>
                  <a:srgbClr val="C00000"/>
                </a:solidFill>
              </a:rPr>
              <a:t>stringstream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[i/o]</a:t>
            </a:r>
            <a:r>
              <a:rPr lang="en-US" dirty="0" err="1">
                <a:solidFill>
                  <a:srgbClr val="C00000"/>
                </a:solidFill>
              </a:rPr>
              <a:t>stringstream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Стандартные объекты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cout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вывод в </a:t>
            </a:r>
            <a:r>
              <a:rPr lang="en-US" dirty="0" err="1">
                <a:solidFill>
                  <a:schemeClr val="tx1"/>
                </a:solidFill>
              </a:rPr>
              <a:t>stdout</a:t>
            </a:r>
            <a:endParaRPr lang="en-US" dirty="0">
              <a:solidFill>
                <a:schemeClr val="tx1"/>
              </a:solidFill>
            </a:endParaRPr>
          </a:p>
          <a:p>
            <a:pPr marL="617220" lvl="1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cin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ввод из </a:t>
            </a:r>
            <a:r>
              <a:rPr lang="en-US" dirty="0">
                <a:solidFill>
                  <a:schemeClr val="tx1"/>
                </a:solidFill>
              </a:rPr>
              <a:t>stdin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cerr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вывод в поток ошибок </a:t>
            </a:r>
            <a:r>
              <a:rPr lang="en-US" dirty="0">
                <a:solidFill>
                  <a:schemeClr val="tx1"/>
                </a:solidFill>
              </a:rPr>
              <a:t>stderr</a:t>
            </a:r>
          </a:p>
          <a:p>
            <a:r>
              <a:rPr lang="ru-RU" dirty="0">
                <a:solidFill>
                  <a:schemeClr val="tx1"/>
                </a:solidFill>
              </a:rPr>
              <a:t>Операторы ввода-вывода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b="0" dirty="0">
                <a:solidFill>
                  <a:srgbClr val="AE3131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оператор вывода</a:t>
            </a:r>
            <a:endParaRPr lang="en-US" b="0" dirty="0">
              <a:solidFill>
                <a:srgbClr val="000000"/>
              </a:solidFill>
              <a:effectLst/>
            </a:endParaRPr>
          </a:p>
          <a:p>
            <a:pPr marL="617220" lvl="1" indent="-342900">
              <a:buFont typeface="+mj-lt"/>
              <a:buAutoNum type="arabicPeriod"/>
            </a:pPr>
            <a:r>
              <a:rPr lang="en-US" b="0" dirty="0">
                <a:solidFill>
                  <a:srgbClr val="AE3131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AE313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оператор ввода</a:t>
            </a: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Нет необходимости указывать тип данных</a:t>
            </a: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Можно использовать </a:t>
            </a:r>
            <a:r>
              <a:rPr lang="ru-RU" b="0" i="1" dirty="0">
                <a:solidFill>
                  <a:srgbClr val="000000"/>
                </a:solidFill>
                <a:effectLst/>
              </a:rPr>
              <a:t>цепочки вызовов</a:t>
            </a:r>
            <a:endParaRPr lang="en-US" b="0" i="1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074A1-5459-4308-9EF8-16D4C19F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1960C5BB-8CE5-4305-80C1-997A25B83CB1}"/>
              </a:ext>
            </a:extLst>
          </p:cNvPr>
          <p:cNvSpPr txBox="1">
            <a:spLocks/>
          </p:cNvSpPr>
          <p:nvPr/>
        </p:nvSpPr>
        <p:spPr>
          <a:xfrm>
            <a:off x="8001707" y="1864566"/>
            <a:ext cx="1676253" cy="148130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&lt;iostream&gt;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&lt;fstream&gt;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&lt;sstream&gt;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&lt;iomanip&gt;</a:t>
            </a:r>
          </a:p>
        </p:txBody>
      </p:sp>
    </p:spTree>
    <p:extLst>
      <p:ext uri="{BB962C8B-B14F-4D97-AF65-F5344CB8AC3E}">
        <p14:creationId xmlns:p14="http://schemas.microsoft.com/office/powerpoint/2010/main" val="226899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0BF4-4083-4DF7-933F-274AECB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2766" y="365760"/>
            <a:ext cx="4441745" cy="1325562"/>
          </a:xfrm>
        </p:spPr>
        <p:txBody>
          <a:bodyPr>
            <a:normAutofit/>
          </a:bodyPr>
          <a:lstStyle/>
          <a:p>
            <a:r>
              <a:rPr lang="ru-RU" dirty="0"/>
              <a:t>Пример:</a:t>
            </a:r>
            <a:br>
              <a:rPr lang="en-US" dirty="0"/>
            </a:br>
            <a:r>
              <a:rPr lang="ru-RU" dirty="0"/>
              <a:t>чтение файла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441C-BDED-44F0-9206-031E5CADD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4694" y="1990294"/>
            <a:ext cx="3779270" cy="132556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i="1" dirty="0"/>
              <a:t>В файл записаны целые числа, разделенные пробелом. Вывести сумму чисел в стандартный поток вывода.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54C94-F37F-4EC3-804A-E7E8A61A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8</a:t>
            </a:fld>
            <a:endParaRPr lang="ru-R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9DE3F5-2FFF-41F2-9D46-CE2216CC2992}"/>
              </a:ext>
            </a:extLst>
          </p:cNvPr>
          <p:cNvGrpSpPr/>
          <p:nvPr/>
        </p:nvGrpSpPr>
        <p:grpSpPr>
          <a:xfrm>
            <a:off x="6948789" y="3429000"/>
            <a:ext cx="3400658" cy="1572618"/>
            <a:chOff x="7493233" y="3241615"/>
            <a:chExt cx="3400658" cy="15726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D3AB9C-3A13-46E2-9C1C-ACA84A51593B}"/>
                </a:ext>
              </a:extLst>
            </p:cNvPr>
            <p:cNvSpPr txBox="1"/>
            <p:nvPr/>
          </p:nvSpPr>
          <p:spPr>
            <a:xfrm>
              <a:off x="7493233" y="3613904"/>
              <a:ext cx="3400658" cy="1200329"/>
            </a:xfrm>
            <a:custGeom>
              <a:avLst/>
              <a:gdLst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73074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074" h="369332">
                  <a:moveTo>
                    <a:pt x="0" y="0"/>
                  </a:moveTo>
                  <a:lnTo>
                    <a:pt x="4673074" y="0"/>
                  </a:lnTo>
                  <a:lnTo>
                    <a:pt x="4645082" y="369332"/>
                  </a:lnTo>
                  <a:cubicBezTo>
                    <a:pt x="3469696" y="261097"/>
                    <a:pt x="1548361" y="369332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accent2">
                      <a:lumMod val="50000"/>
                    </a:schemeClr>
                  </a:solidFill>
                  <a:latin typeface="Consolas" panose="020B0609020204030204" pitchFamily="49" charset="0"/>
                </a:rPr>
                <a:t>1 1 2 3 5 8 13 21 34 55 89 144 233 377 610 987 1597 2584 4181 6765</a:t>
              </a:r>
              <a:endPara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endParaRPr lang="ru-RU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31B164-6B1D-4C67-A843-6BAC4B778841}"/>
                </a:ext>
              </a:extLst>
            </p:cNvPr>
            <p:cNvSpPr txBox="1"/>
            <p:nvPr/>
          </p:nvSpPr>
          <p:spPr>
            <a:xfrm>
              <a:off x="7493233" y="3241615"/>
              <a:ext cx="340065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numbers.txt</a:t>
              </a:r>
              <a:endParaRPr lang="ru-RU" dirty="0">
                <a:latin typeface="Consolas" panose="020B0609020204030204" pitchFamily="49" charset="0"/>
              </a:endParaRPr>
            </a:p>
          </p:txBody>
        </p:sp>
      </p:grpSp>
      <p:sp>
        <p:nvSpPr>
          <p:cNvPr id="9" name="Объект 1">
            <a:extLst>
              <a:ext uri="{FF2B5EF4-FFF2-40B4-BE49-F238E27FC236}">
                <a16:creationId xmlns:a16="http://schemas.microsoft.com/office/drawing/2014/main" id="{071C8A29-9C87-46F4-910D-0FC597838CB6}"/>
              </a:ext>
            </a:extLst>
          </p:cNvPr>
          <p:cNvSpPr txBox="1">
            <a:spLocks/>
          </p:cNvSpPr>
          <p:nvPr/>
        </p:nvSpPr>
        <p:spPr>
          <a:xfrm>
            <a:off x="847979" y="793102"/>
            <a:ext cx="5404958" cy="578693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&lt;fstream&gt;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"numbers.txt"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(!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good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 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"Can't load file 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value, 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"Sum equals 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2C8B0-F590-4A57-A4DF-EE1CAB289121}"/>
              </a:ext>
            </a:extLst>
          </p:cNvPr>
          <p:cNvSpPr txBox="1"/>
          <p:nvPr/>
        </p:nvSpPr>
        <p:spPr>
          <a:xfrm>
            <a:off x="6948789" y="5529805"/>
            <a:ext cx="34006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Sum equals 24475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4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D613-1ED0-4AF7-97CC-74BCE24E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из файла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E1F1D-79AD-474A-B760-CC54457AC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3394104" cy="4572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Чтение по символу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78431-E622-4D9D-AB22-E44E21BE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F0057FD-048C-4B7D-8C00-B89F78E87413}"/>
              </a:ext>
            </a:extLst>
          </p:cNvPr>
          <p:cNvSpPr txBox="1">
            <a:spLocks/>
          </p:cNvSpPr>
          <p:nvPr/>
        </p:nvSpPr>
        <p:spPr>
          <a:xfrm>
            <a:off x="1575516" y="2286001"/>
            <a:ext cx="3780253" cy="12129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c;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A9B9B0-299F-4403-A967-7ED5F405BB10}"/>
              </a:ext>
            </a:extLst>
          </p:cNvPr>
          <p:cNvSpPr txBox="1">
            <a:spLocks/>
          </p:cNvSpPr>
          <p:nvPr/>
        </p:nvSpPr>
        <p:spPr>
          <a:xfrm>
            <a:off x="1261872" y="3744686"/>
            <a:ext cx="3394104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Чтение по строке</a:t>
            </a: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0EC4BE81-1D92-4F26-A9B8-2F4A18E4C6E2}"/>
              </a:ext>
            </a:extLst>
          </p:cNvPr>
          <p:cNvSpPr txBox="1">
            <a:spLocks/>
          </p:cNvSpPr>
          <p:nvPr/>
        </p:nvSpPr>
        <p:spPr>
          <a:xfrm>
            <a:off x="1575517" y="4201886"/>
            <a:ext cx="3780254" cy="12129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472616-4590-42D1-B879-96340544BF44}"/>
              </a:ext>
            </a:extLst>
          </p:cNvPr>
          <p:cNvSpPr txBox="1">
            <a:spLocks/>
          </p:cNvSpPr>
          <p:nvPr/>
        </p:nvSpPr>
        <p:spPr>
          <a:xfrm>
            <a:off x="5855644" y="1828801"/>
            <a:ext cx="3394104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Чтение бинарных данных</a:t>
            </a:r>
          </a:p>
        </p:txBody>
      </p:sp>
      <p:sp>
        <p:nvSpPr>
          <p:cNvPr id="10" name="Объект 1">
            <a:extLst>
              <a:ext uri="{FF2B5EF4-FFF2-40B4-BE49-F238E27FC236}">
                <a16:creationId xmlns:a16="http://schemas.microsoft.com/office/drawing/2014/main" id="{AE314DF9-E832-4469-A71B-1EDBBF91160C}"/>
              </a:ext>
            </a:extLst>
          </p:cNvPr>
          <p:cNvSpPr txBox="1">
            <a:spLocks/>
          </p:cNvSpPr>
          <p:nvPr/>
        </p:nvSpPr>
        <p:spPr>
          <a:xfrm>
            <a:off x="5855644" y="2286002"/>
            <a:ext cx="4760840" cy="145868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binary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6BAE5D-C5B8-4358-A04E-57F6DCC644CD}"/>
              </a:ext>
            </a:extLst>
          </p:cNvPr>
          <p:cNvSpPr txBox="1">
            <a:spLocks/>
          </p:cNvSpPr>
          <p:nvPr/>
        </p:nvSpPr>
        <p:spPr>
          <a:xfrm>
            <a:off x="5855643" y="4145901"/>
            <a:ext cx="5012039" cy="1458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Метод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fstream::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eof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ru-RU" dirty="0"/>
              <a:t>позволяет узнать достигнут ли конец файла</a:t>
            </a:r>
          </a:p>
        </p:txBody>
      </p:sp>
    </p:spTree>
    <p:extLst>
      <p:ext uri="{BB962C8B-B14F-4D97-AF65-F5344CB8AC3E}">
        <p14:creationId xmlns:p14="http://schemas.microsoft.com/office/powerpoint/2010/main" val="181901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1">
            <a:extLst>
              <a:ext uri="{FF2B5EF4-FFF2-40B4-BE49-F238E27FC236}">
                <a16:creationId xmlns:a16="http://schemas.microsoft.com/office/drawing/2014/main" id="{071C8A29-9C87-46F4-910D-0FC597838CB6}"/>
              </a:ext>
            </a:extLst>
          </p:cNvPr>
          <p:cNvSpPr txBox="1">
            <a:spLocks/>
          </p:cNvSpPr>
          <p:nvPr/>
        </p:nvSpPr>
        <p:spPr>
          <a:xfrm>
            <a:off x="463451" y="572652"/>
            <a:ext cx="6569858" cy="6108065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5914 h 3848590"/>
              <a:gd name="connsiteX1" fmla="*/ 5122766 w 5760945"/>
              <a:gd name="connsiteY1" fmla="*/ 0 h 3848590"/>
              <a:gd name="connsiteX2" fmla="*/ 5760945 w 5760945"/>
              <a:gd name="connsiteY2" fmla="*/ 3848590 h 3848590"/>
              <a:gd name="connsiteX3" fmla="*/ 0 w 5760945"/>
              <a:gd name="connsiteY3" fmla="*/ 3848590 h 3848590"/>
              <a:gd name="connsiteX4" fmla="*/ 0 w 5760945"/>
              <a:gd name="connsiteY4" fmla="*/ 5914 h 3848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8590">
                <a:moveTo>
                  <a:pt x="0" y="5914"/>
                </a:moveTo>
                <a:lnTo>
                  <a:pt x="5122766" y="0"/>
                </a:lnTo>
                <a:cubicBezTo>
                  <a:pt x="4833517" y="1402190"/>
                  <a:pt x="5760945" y="2567698"/>
                  <a:pt x="5760945" y="3848590"/>
                </a:cubicBezTo>
                <a:lnTo>
                  <a:pt x="0" y="3848590"/>
                </a:lnTo>
                <a:lnTo>
                  <a:pt x="0" y="5914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&lt;utility&gt;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std::pair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skip '('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skip 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[lat1, lon1] =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"(54.847830, 83.094392)"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[lat2, lon2] =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"(54.835815, 83.101360)"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fr-F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(lat1, lon1, lat2, lon2)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km"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40BF4-4083-4DF7-933F-274AECB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2766" y="365760"/>
            <a:ext cx="4441745" cy="1325562"/>
          </a:xfrm>
        </p:spPr>
        <p:txBody>
          <a:bodyPr>
            <a:normAutofit/>
          </a:bodyPr>
          <a:lstStyle/>
          <a:p>
            <a:r>
              <a:rPr lang="ru-RU" dirty="0"/>
              <a:t>Пример:</a:t>
            </a:r>
            <a:br>
              <a:rPr lang="en-US" dirty="0"/>
            </a:br>
            <a:r>
              <a:rPr lang="ru-RU" dirty="0"/>
              <a:t>строковый поток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E441C-BDED-44F0-9206-031E5CADD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9483" y="1947540"/>
            <a:ext cx="3779270" cy="132556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i="1" dirty="0"/>
              <a:t>Вэб-сервер вернул географические координаты двух точек в виде строк. Найти расстояние между точками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54C94-F37F-4EC3-804A-E7E8A61A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10</a:t>
            </a:fld>
            <a:endParaRPr lang="ru-R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9DE3F5-2FFF-41F2-9D46-CE2216CC2992}"/>
              </a:ext>
            </a:extLst>
          </p:cNvPr>
          <p:cNvGrpSpPr/>
          <p:nvPr/>
        </p:nvGrpSpPr>
        <p:grpSpPr>
          <a:xfrm>
            <a:off x="7033309" y="3429000"/>
            <a:ext cx="3400658" cy="1295619"/>
            <a:chOff x="7493233" y="3241615"/>
            <a:chExt cx="3400658" cy="129561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D3AB9C-3A13-46E2-9C1C-ACA84A51593B}"/>
                </a:ext>
              </a:extLst>
            </p:cNvPr>
            <p:cNvSpPr txBox="1"/>
            <p:nvPr/>
          </p:nvSpPr>
          <p:spPr>
            <a:xfrm>
              <a:off x="7493233" y="3613904"/>
              <a:ext cx="3400658" cy="923330"/>
            </a:xfrm>
            <a:custGeom>
              <a:avLst/>
              <a:gdLst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73074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074" h="369332">
                  <a:moveTo>
                    <a:pt x="0" y="0"/>
                  </a:moveTo>
                  <a:lnTo>
                    <a:pt x="4673074" y="0"/>
                  </a:lnTo>
                  <a:lnTo>
                    <a:pt x="4645082" y="369332"/>
                  </a:lnTo>
                  <a:cubicBezTo>
                    <a:pt x="3469696" y="261097"/>
                    <a:pt x="1548361" y="369332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"(54.847830, 83.094392)"</a:t>
              </a:r>
              <a:endPara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ru-RU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"(54.835815, 83.101360)"</a:t>
              </a:r>
              <a:endPara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endParaRPr>
            </a:p>
            <a:p>
              <a:endPara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31B164-6B1D-4C67-A843-6BAC4B778841}"/>
                </a:ext>
              </a:extLst>
            </p:cNvPr>
            <p:cNvSpPr txBox="1"/>
            <p:nvPr/>
          </p:nvSpPr>
          <p:spPr>
            <a:xfrm>
              <a:off x="7493233" y="3241615"/>
              <a:ext cx="340065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Input</a:t>
              </a:r>
              <a:endParaRPr lang="ru-RU" dirty="0">
                <a:latin typeface="Consolas" panose="020B0609020204030204" pitchFamily="49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1F2C8B0-F590-4A57-A4DF-EE1CAB289121}"/>
              </a:ext>
            </a:extLst>
          </p:cNvPr>
          <p:cNvSpPr txBox="1"/>
          <p:nvPr/>
        </p:nvSpPr>
        <p:spPr>
          <a:xfrm>
            <a:off x="7287208" y="5529805"/>
            <a:ext cx="30622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1.40854 km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6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775E-B84A-444B-8BA0-6983801E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Отступление</a:t>
            </a:r>
            <a:r>
              <a:rPr lang="en-US" sz="4000" dirty="0"/>
              <a:t>: </a:t>
            </a:r>
            <a:r>
              <a:rPr lang="en-US" sz="4000" dirty="0">
                <a:latin typeface="Consolas" panose="020B0609020204030204" pitchFamily="49" charset="0"/>
              </a:rPr>
              <a:t>pair</a:t>
            </a:r>
            <a:r>
              <a:rPr lang="en-US" sz="4000" dirty="0"/>
              <a:t> </a:t>
            </a:r>
            <a:r>
              <a:rPr lang="ru-RU" sz="4000" dirty="0"/>
              <a:t>и </a:t>
            </a:r>
            <a:r>
              <a:rPr lang="en-US" sz="4000" dirty="0">
                <a:latin typeface="Consolas" panose="020B0609020204030204" pitchFamily="49" charset="0"/>
              </a:rPr>
              <a:t>tuple</a:t>
            </a:r>
            <a:endParaRPr lang="ru-RU" sz="4000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957C-E739-445D-9CB4-1FD259FB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75861"/>
          </a:xfrm>
        </p:spPr>
        <p:txBody>
          <a:bodyPr>
            <a:normAutofit fontScale="92500"/>
          </a:bodyPr>
          <a:lstStyle/>
          <a:p>
            <a:r>
              <a:rPr lang="ru-RU" dirty="0"/>
              <a:t>Объект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pair</a:t>
            </a:r>
            <a:r>
              <a:rPr lang="ru-RU" dirty="0"/>
              <a:t> может хранить пару объектов любых типов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53784-CCE7-407B-A237-D43E6091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346A2C5-3B04-4994-A270-AA658857E922}"/>
              </a:ext>
            </a:extLst>
          </p:cNvPr>
          <p:cNvSpPr txBox="1">
            <a:spLocks/>
          </p:cNvSpPr>
          <p:nvPr/>
        </p:nvSpPr>
        <p:spPr>
          <a:xfrm>
            <a:off x="1575515" y="2286001"/>
            <a:ext cx="5879643" cy="70912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fr-FR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make_pair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B46E9AAE-9227-4179-825E-CAF61CABDE05}"/>
              </a:ext>
            </a:extLst>
          </p:cNvPr>
          <p:cNvSpPr txBox="1">
            <a:spLocks/>
          </p:cNvSpPr>
          <p:nvPr/>
        </p:nvSpPr>
        <p:spPr>
          <a:xfrm>
            <a:off x="8770775" y="553618"/>
            <a:ext cx="1676253" cy="89418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&lt;utility&gt;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&lt;tuple&gt;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8E4BFF-CDEE-4093-82E9-90ABC2B40848}"/>
              </a:ext>
            </a:extLst>
          </p:cNvPr>
          <p:cNvSpPr txBox="1">
            <a:spLocks/>
          </p:cNvSpPr>
          <p:nvPr/>
        </p:nvSpPr>
        <p:spPr>
          <a:xfrm>
            <a:off x="1261871" y="3315477"/>
            <a:ext cx="6818440" cy="79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Объект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tuple</a:t>
            </a:r>
            <a:r>
              <a:rPr lang="ru-RU" dirty="0"/>
              <a:t> может хранить фиксированное количество гетерогенных объектов</a:t>
            </a: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88AA0560-5177-4E69-969E-D026CE666D61}"/>
              </a:ext>
            </a:extLst>
          </p:cNvPr>
          <p:cNvSpPr txBox="1">
            <a:spLocks/>
          </p:cNvSpPr>
          <p:nvPr/>
        </p:nvSpPr>
        <p:spPr>
          <a:xfrm>
            <a:off x="1575515" y="4077475"/>
            <a:ext cx="7195261" cy="205740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"Vitaly"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Объект 1">
            <a:extLst>
              <a:ext uri="{FF2B5EF4-FFF2-40B4-BE49-F238E27FC236}">
                <a16:creationId xmlns:a16="http://schemas.microsoft.com/office/drawing/2014/main" id="{97B05C08-C7A9-4264-9B22-4AE971866333}"/>
              </a:ext>
            </a:extLst>
          </p:cNvPr>
          <p:cNvSpPr txBox="1">
            <a:spLocks/>
          </p:cNvSpPr>
          <p:nvPr/>
        </p:nvSpPr>
        <p:spPr>
          <a:xfrm>
            <a:off x="1575515" y="2285997"/>
            <a:ext cx="5879643" cy="70912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make_pair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lat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lon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fr-F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 </a:t>
            </a:r>
            <a:r>
              <a:rPr lang="fr-FR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fr-F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Объект 1">
            <a:extLst>
              <a:ext uri="{FF2B5EF4-FFF2-40B4-BE49-F238E27FC236}">
                <a16:creationId xmlns:a16="http://schemas.microsoft.com/office/drawing/2014/main" id="{A3833BA2-5FEF-41FE-A616-B811F92C612A}"/>
              </a:ext>
            </a:extLst>
          </p:cNvPr>
          <p:cNvSpPr txBox="1">
            <a:spLocks/>
          </p:cNvSpPr>
          <p:nvPr/>
        </p:nvSpPr>
        <p:spPr>
          <a:xfrm>
            <a:off x="1575514" y="4077474"/>
            <a:ext cx="7195261" cy="205740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"Vitaly"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6483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775E-B84A-444B-8BA0-6983801E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Отступление</a:t>
            </a:r>
            <a:r>
              <a:rPr lang="en-US" sz="4000" dirty="0"/>
              <a:t>: </a:t>
            </a:r>
            <a:r>
              <a:rPr lang="en-US" sz="4000" dirty="0">
                <a:latin typeface="Consolas" panose="020B0609020204030204" pitchFamily="49" charset="0"/>
              </a:rPr>
              <a:t>pair</a:t>
            </a:r>
            <a:r>
              <a:rPr lang="en-US" sz="4000" dirty="0"/>
              <a:t> </a:t>
            </a:r>
            <a:r>
              <a:rPr lang="ru-RU" sz="4000" dirty="0"/>
              <a:t>и </a:t>
            </a:r>
            <a:r>
              <a:rPr lang="en-US" sz="4000" dirty="0">
                <a:latin typeface="Consolas" panose="020B0609020204030204" pitchFamily="49" charset="0"/>
              </a:rPr>
              <a:t>tuple</a:t>
            </a:r>
            <a:endParaRPr lang="ru-RU" sz="4000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957C-E739-445D-9CB4-1FD259FB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692" y="3185475"/>
            <a:ext cx="4242191" cy="266855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pair</a:t>
            </a:r>
            <a:r>
              <a:rPr lang="ru-RU" dirty="0"/>
              <a:t> и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tuple</a:t>
            </a:r>
            <a:r>
              <a:rPr lang="ru-RU" dirty="0"/>
              <a:t> удобно использовать</a:t>
            </a:r>
            <a:r>
              <a:rPr lang="en-US" dirty="0"/>
              <a:t> </a:t>
            </a:r>
            <a:r>
              <a:rPr lang="ru-RU" dirty="0"/>
              <a:t>для возвращения из функции несколько объектов</a:t>
            </a:r>
          </a:p>
          <a:p>
            <a:r>
              <a:rPr lang="ru-RU" dirty="0"/>
              <a:t>Использование </a:t>
            </a:r>
            <a:r>
              <a:rPr lang="ru-RU" i="1" dirty="0"/>
              <a:t>псевдонимов</a:t>
            </a:r>
            <a:r>
              <a:rPr lang="ru-RU" dirty="0"/>
              <a:t> позволяет сделать код проще для чтения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53784-CCE7-407B-A237-D43E6091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12</a:t>
            </a:fld>
            <a:endParaRPr lang="ru-RU"/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88AA0560-5177-4E69-969E-D026CE666D61}"/>
              </a:ext>
            </a:extLst>
          </p:cNvPr>
          <p:cNvSpPr txBox="1">
            <a:spLocks/>
          </p:cNvSpPr>
          <p:nvPr/>
        </p:nvSpPr>
        <p:spPr>
          <a:xfrm>
            <a:off x="1049098" y="2015412"/>
            <a:ext cx="5788594" cy="415678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tuple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get_record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"Vitaly"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score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1.05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score}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[name, age, score] = 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get_record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name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",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age &lt;&lt;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", "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&lt;&lt; score &lt;&lt; 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630DEAED-94C3-BA82-8CE8-B653DAC58ECE}"/>
              </a:ext>
            </a:extLst>
          </p:cNvPr>
          <p:cNvSpPr txBox="1">
            <a:spLocks/>
          </p:cNvSpPr>
          <p:nvPr/>
        </p:nvSpPr>
        <p:spPr>
          <a:xfrm>
            <a:off x="8770775" y="553618"/>
            <a:ext cx="1676253" cy="89418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&lt;utility&gt;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&lt;tuple&gt;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7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6482-C876-47FC-8F4A-6D464109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49B61-193E-470D-B5FD-748D08F1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3313" y="1828800"/>
            <a:ext cx="4124131" cy="343366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функцию по умолчанию передаются копии параметров</a:t>
            </a:r>
          </a:p>
          <a:p>
            <a:r>
              <a:rPr lang="ru-RU" dirty="0"/>
              <a:t>А давайте вернем новую строку!</a:t>
            </a:r>
          </a:p>
          <a:p>
            <a:pPr lvl="1"/>
            <a:r>
              <a:rPr lang="ru-RU" dirty="0"/>
              <a:t>Для добавления одного символа мы скопировали строку два раза…</a:t>
            </a:r>
            <a:endParaRPr lang="en-US" dirty="0"/>
          </a:p>
          <a:p>
            <a:r>
              <a:rPr lang="ru-RU" dirty="0"/>
              <a:t>Передача строки </a:t>
            </a:r>
            <a:r>
              <a:rPr lang="ru-RU" i="1" dirty="0"/>
              <a:t>по ссылке</a:t>
            </a:r>
            <a:r>
              <a:rPr lang="ru-RU" dirty="0"/>
              <a:t> – то что нужно в этой ситуации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7D5E1-3ABB-483C-9F42-51DEC39E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13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1A65B473-E8AF-4840-89EB-CE5FD489FD50}"/>
              </a:ext>
            </a:extLst>
          </p:cNvPr>
          <p:cNvSpPr txBox="1">
            <a:spLocks/>
          </p:cNvSpPr>
          <p:nvPr/>
        </p:nvSpPr>
        <p:spPr>
          <a:xfrm>
            <a:off x="965556" y="2015412"/>
            <a:ext cx="5788594" cy="415678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 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EDFBC-E759-4684-A5C2-30732D6E4E98}"/>
              </a:ext>
            </a:extLst>
          </p:cNvPr>
          <p:cNvSpPr txBox="1"/>
          <p:nvPr/>
        </p:nvSpPr>
        <p:spPr>
          <a:xfrm>
            <a:off x="7149756" y="5802868"/>
            <a:ext cx="34006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Hello, world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C7C2AC23-31D4-4B60-AE2E-F00E2790E1B8}"/>
              </a:ext>
            </a:extLst>
          </p:cNvPr>
          <p:cNvSpPr txBox="1">
            <a:spLocks/>
          </p:cNvSpPr>
          <p:nvPr/>
        </p:nvSpPr>
        <p:spPr>
          <a:xfrm>
            <a:off x="965556" y="2015412"/>
            <a:ext cx="5788594" cy="447682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'!’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    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str;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 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    line 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35163-FC33-4C84-8885-97EBF779D2FC}"/>
              </a:ext>
            </a:extLst>
          </p:cNvPr>
          <p:cNvSpPr txBox="1"/>
          <p:nvPr/>
        </p:nvSpPr>
        <p:spPr>
          <a:xfrm>
            <a:off x="7149756" y="5802868"/>
            <a:ext cx="34006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Hello, world!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10" name="Объект 1">
            <a:extLst>
              <a:ext uri="{FF2B5EF4-FFF2-40B4-BE49-F238E27FC236}">
                <a16:creationId xmlns:a16="http://schemas.microsoft.com/office/drawing/2014/main" id="{66FA65F6-FDA8-4303-B12A-8FE724BE4E91}"/>
              </a:ext>
            </a:extLst>
          </p:cNvPr>
          <p:cNvSpPr txBox="1">
            <a:spLocks/>
          </p:cNvSpPr>
          <p:nvPr/>
        </p:nvSpPr>
        <p:spPr>
          <a:xfrm>
            <a:off x="965556" y="2010897"/>
            <a:ext cx="5788594" cy="4458165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 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add_exclamation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952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6FEE-1039-49B0-80DE-E8E35140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</a:t>
            </a:r>
            <a:r>
              <a:rPr lang="en-US" dirty="0"/>
              <a:t> II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30DB-6302-46D8-9FC0-6F29EEBEA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8858873" cy="272241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Передача аргумента по ссылке позволяет решить две задачи:</a:t>
            </a:r>
          </a:p>
          <a:p>
            <a:pPr marL="617220" lvl="1" indent="-342900">
              <a:lnSpc>
                <a:spcPct val="110000"/>
              </a:lnSpc>
              <a:buFont typeface="+mj-lt"/>
              <a:buAutoNum type="arabicPeriod"/>
            </a:pPr>
            <a:r>
              <a:rPr lang="ru-RU" dirty="0"/>
              <a:t>Передать объект в функцию (а не его копию)</a:t>
            </a:r>
          </a:p>
          <a:p>
            <a:pPr marL="617220" lvl="1" indent="-342900">
              <a:lnSpc>
                <a:spcPct val="110000"/>
              </a:lnSpc>
              <a:buFont typeface="+mj-lt"/>
              <a:buAutoNum type="arabicPeriod"/>
            </a:pPr>
            <a:r>
              <a:rPr lang="ru-RU" dirty="0"/>
              <a:t>Избежать лишнего (иногда очень дорогого!) копирования</a:t>
            </a:r>
          </a:p>
          <a:p>
            <a:pPr>
              <a:lnSpc>
                <a:spcPct val="110000"/>
              </a:lnSpc>
            </a:pPr>
            <a:r>
              <a:rPr lang="ru-RU" i="1" dirty="0"/>
              <a:t>Константная ссылка </a:t>
            </a:r>
            <a:r>
              <a:rPr lang="ru-RU" dirty="0"/>
              <a:t>обеспечивает эффективную передачу аргумента и гарантирует, что объект не будет изменен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ru-RU" dirty="0"/>
              <a:t>Нет смысла передавать базовые типы (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  <a:r>
              <a:rPr lang="ru-RU" dirty="0"/>
              <a:t>) по константной ссылке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270A9-0D7E-4821-AA38-620CB28F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14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5749880B-F8CE-4BCC-AD6F-C47213C6EAF6}"/>
              </a:ext>
            </a:extLst>
          </p:cNvPr>
          <p:cNvSpPr txBox="1">
            <a:spLocks/>
          </p:cNvSpPr>
          <p:nvPr/>
        </p:nvSpPr>
        <p:spPr>
          <a:xfrm>
            <a:off x="2766436" y="4535225"/>
            <a:ext cx="5619028" cy="100791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 morning,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9234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CF-64F1-4632-A737-29423D91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std::string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8BC32-319F-4158-9EAE-441EBBF4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085" y="1836265"/>
            <a:ext cx="3295490" cy="435133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string</a:t>
            </a:r>
            <a:r>
              <a:rPr lang="ru-RU" dirty="0"/>
              <a:t> работает с 8-битовыми символьными строками</a:t>
            </a:r>
            <a:endParaRPr lang="en-US" dirty="0"/>
          </a:p>
          <a:p>
            <a:r>
              <a:rPr lang="ru-RU" dirty="0"/>
              <a:t>Поддерживает множество операций (смотрите документацию)</a:t>
            </a:r>
          </a:p>
          <a:p>
            <a:r>
              <a:rPr lang="ru-RU" dirty="0"/>
              <a:t>Поддерживают операторы сравнения (лексикографический порядок) и операторы ввода-вывода</a:t>
            </a:r>
          </a:p>
          <a:p>
            <a:r>
              <a:rPr lang="ru-RU" dirty="0"/>
              <a:t>Имеет инструменты для поиска внутри строки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90286-366C-47EB-8788-7EE56E2B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15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082CC107-E171-4AE5-AA7C-D9AEFE310E3E}"/>
              </a:ext>
            </a:extLst>
          </p:cNvPr>
          <p:cNvSpPr txBox="1">
            <a:spLocks/>
          </p:cNvSpPr>
          <p:nvPr/>
        </p:nvSpPr>
        <p:spPr>
          <a:xfrm>
            <a:off x="9278259" y="962845"/>
            <a:ext cx="1676253" cy="47406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&lt;string&gt;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19574251-3102-4CFA-B0AF-42FB4861531E}"/>
              </a:ext>
            </a:extLst>
          </p:cNvPr>
          <p:cNvSpPr txBox="1">
            <a:spLocks/>
          </p:cNvSpPr>
          <p:nvPr/>
        </p:nvSpPr>
        <p:spPr>
          <a:xfrm>
            <a:off x="713207" y="1836266"/>
            <a:ext cx="6450251" cy="445256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Hello, world!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13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world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world_index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// 7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world_index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"Mike"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Hello, Mike!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"456"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"5.654"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 equals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772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1">
            <a:extLst>
              <a:ext uri="{FF2B5EF4-FFF2-40B4-BE49-F238E27FC236}">
                <a16:creationId xmlns:a16="http://schemas.microsoft.com/office/drawing/2014/main" id="{D14E61AE-93A9-4B99-917B-63380E70B672}"/>
              </a:ext>
            </a:extLst>
          </p:cNvPr>
          <p:cNvSpPr txBox="1">
            <a:spLocks/>
          </p:cNvSpPr>
          <p:nvPr/>
        </p:nvSpPr>
        <p:spPr>
          <a:xfrm>
            <a:off x="434278" y="337767"/>
            <a:ext cx="5975854" cy="629629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7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{1, 3, 5, 7, 10}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{1, 3, 5, 7, 10, 12}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1 12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{1, 3, 5, 7, 10}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size = 10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size = 20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// {2, 2, 2, 2, 2}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vec2d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143DB-49A8-4A4C-AFCF-71738B54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5018" y="365760"/>
            <a:ext cx="4389494" cy="1325562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std::vector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963D1-7BAB-4693-92F5-A2360A449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5019" y="2590799"/>
            <a:ext cx="4389493" cy="358140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vector</a:t>
            </a:r>
            <a:r>
              <a:rPr lang="ru-RU" dirty="0"/>
              <a:t> реализует тип данных </a:t>
            </a:r>
            <a:r>
              <a:rPr lang="ru-RU" i="1" dirty="0"/>
              <a:t>динамический массив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Позволяет хранить </a:t>
            </a:r>
            <a:r>
              <a:rPr lang="ru-RU" i="1" dirty="0"/>
              <a:t>гомогенные объекты </a:t>
            </a:r>
            <a:r>
              <a:rPr lang="ru-RU" dirty="0"/>
              <a:t>любого типа</a:t>
            </a:r>
          </a:p>
          <a:p>
            <a:pPr lvl="1"/>
            <a:r>
              <a:rPr lang="ru-RU" dirty="0"/>
              <a:t>Поддерживает эффективное </a:t>
            </a:r>
            <a:r>
              <a:rPr lang="ru-RU" i="1" dirty="0"/>
              <a:t>итерирование</a:t>
            </a:r>
          </a:p>
          <a:p>
            <a:pPr lvl="1"/>
            <a:r>
              <a:rPr lang="ru-RU" dirty="0"/>
              <a:t>Поддерживает эффективную вставку и удаление </a:t>
            </a:r>
            <a:r>
              <a:rPr lang="ru-RU" i="1" dirty="0"/>
              <a:t>в конец</a:t>
            </a:r>
          </a:p>
          <a:p>
            <a:pPr lvl="1"/>
            <a:r>
              <a:rPr lang="ru-RU" dirty="0"/>
              <a:t>Поддерживает множество других методов (смотрите документацию!)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E42AE-655F-45E5-B7F3-6B1CBB5B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16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647A03F-F483-4C61-B96A-6FB85C7FA8A5}"/>
              </a:ext>
            </a:extLst>
          </p:cNvPr>
          <p:cNvSpPr txBox="1">
            <a:spLocks/>
          </p:cNvSpPr>
          <p:nvPr/>
        </p:nvSpPr>
        <p:spPr>
          <a:xfrm>
            <a:off x="9399557" y="1773712"/>
            <a:ext cx="1676253" cy="47406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&lt;vector&gt;</a:t>
            </a:r>
          </a:p>
        </p:txBody>
      </p:sp>
    </p:spTree>
    <p:extLst>
      <p:ext uri="{BB962C8B-B14F-4D97-AF65-F5344CB8AC3E}">
        <p14:creationId xmlns:p14="http://schemas.microsoft.com/office/powerpoint/2010/main" val="303816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FC73-5262-4BB5-8F37-B51F2D81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Итерирование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C58A8-3B17-4215-BB11-BB3D8ACC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BE67FA5C-436B-4886-83BE-47EA8A8A0563}"/>
              </a:ext>
            </a:extLst>
          </p:cNvPr>
          <p:cNvSpPr txBox="1">
            <a:spLocks/>
          </p:cNvSpPr>
          <p:nvPr/>
        </p:nvSpPr>
        <p:spPr>
          <a:xfrm>
            <a:off x="1261872" y="1948698"/>
            <a:ext cx="5527985" cy="444277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++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 ++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"Novosibirsk"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 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D1C53-79D8-4047-AABC-199123E81C1B}"/>
              </a:ext>
            </a:extLst>
          </p:cNvPr>
          <p:cNvSpPr txBox="1"/>
          <p:nvPr/>
        </p:nvSpPr>
        <p:spPr>
          <a:xfrm>
            <a:off x="7233733" y="3684819"/>
            <a:ext cx="34006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latin typeface="Consolas" panose="020B0609020204030204" pitchFamily="49" charset="0"/>
              </a:rPr>
              <a:t>&gt; 1 2 3 4 5 </a:t>
            </a:r>
          </a:p>
          <a:p>
            <a:r>
              <a:rPr lang="pt-BR" dirty="0">
                <a:latin typeface="Consolas" panose="020B0609020204030204" pitchFamily="49" charset="0"/>
              </a:rPr>
              <a:t>&gt; 2 3 4 5 6</a:t>
            </a:r>
          </a:p>
          <a:p>
            <a:r>
              <a:rPr lang="pt-BR" dirty="0">
                <a:latin typeface="Consolas" panose="020B0609020204030204" pitchFamily="49" charset="0"/>
              </a:rPr>
              <a:t>&gt; N o v o s i b i r s k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96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550A-6E30-4A00-82C8-4567BF97F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Заключительный пример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BB59F-0B02-4B70-8F4D-DEE4F7556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299173" cy="2733869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solidFill>
                  <a:srgbClr val="C00000"/>
                </a:solidFill>
              </a:rPr>
              <a:t>Дано</a:t>
            </a:r>
            <a:r>
              <a:rPr lang="ru-RU" dirty="0"/>
              <a:t>: текстовый файл со списком городов, их географическим расположением (широта и долгота) и населением</a:t>
            </a:r>
          </a:p>
          <a:p>
            <a:r>
              <a:rPr lang="ru-RU" dirty="0">
                <a:solidFill>
                  <a:srgbClr val="C00000"/>
                </a:solidFill>
              </a:rPr>
              <a:t>Найти</a:t>
            </a:r>
            <a:r>
              <a:rPr lang="ru-RU" dirty="0"/>
              <a:t>: пару городов</a:t>
            </a:r>
            <a:r>
              <a:rPr lang="en-US" dirty="0"/>
              <a:t> </a:t>
            </a:r>
            <a:r>
              <a:rPr lang="ru-RU" dirty="0"/>
              <a:t>с населением в каждом</a:t>
            </a:r>
            <a:r>
              <a:rPr lang="en-US" dirty="0"/>
              <a:t> </a:t>
            </a:r>
            <a:r>
              <a:rPr lang="ru-RU" dirty="0"/>
              <a:t>из которых не меньше некоторого порога и расстояние между которыми минимально.</a:t>
            </a:r>
            <a:endParaRPr lang="en-US" dirty="0"/>
          </a:p>
          <a:p>
            <a:r>
              <a:rPr lang="ru-RU" dirty="0"/>
              <a:t>Определим удобные псевдонимы: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75744-3FD4-4E28-9BE0-74FE0157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18</a:t>
            </a:fld>
            <a:endParaRPr lang="ru-RU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A2CE87-3B15-497C-81F2-7458D0C2F64F}"/>
              </a:ext>
            </a:extLst>
          </p:cNvPr>
          <p:cNvGrpSpPr/>
          <p:nvPr/>
        </p:nvGrpSpPr>
        <p:grpSpPr>
          <a:xfrm>
            <a:off x="5803640" y="2146690"/>
            <a:ext cx="5249870" cy="2000812"/>
            <a:chOff x="7493233" y="3241615"/>
            <a:chExt cx="3400659" cy="20008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CFEC5F-A2A3-47C8-B4E1-B0BF351DA2FB}"/>
                </a:ext>
              </a:extLst>
            </p:cNvPr>
            <p:cNvSpPr txBox="1"/>
            <p:nvPr/>
          </p:nvSpPr>
          <p:spPr>
            <a:xfrm>
              <a:off x="7493234" y="3613905"/>
              <a:ext cx="3400658" cy="1628522"/>
            </a:xfrm>
            <a:custGeom>
              <a:avLst/>
              <a:gdLst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73074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73074"/>
                <a:gd name="connsiteY0" fmla="*/ 0 h 369332"/>
                <a:gd name="connsiteX1" fmla="*/ 4673074 w 4673074"/>
                <a:gd name="connsiteY1" fmla="*/ 0 h 369332"/>
                <a:gd name="connsiteX2" fmla="*/ 4645082 w 4673074"/>
                <a:gd name="connsiteY2" fmla="*/ 369332 h 369332"/>
                <a:gd name="connsiteX3" fmla="*/ 0 w 4673074"/>
                <a:gd name="connsiteY3" fmla="*/ 369332 h 369332"/>
                <a:gd name="connsiteX4" fmla="*/ 0 w 4673074"/>
                <a:gd name="connsiteY4" fmla="*/ 0 h 369332"/>
                <a:gd name="connsiteX0" fmla="*/ 0 w 4688325"/>
                <a:gd name="connsiteY0" fmla="*/ 0 h 371528"/>
                <a:gd name="connsiteX1" fmla="*/ 4673074 w 4688325"/>
                <a:gd name="connsiteY1" fmla="*/ 0 h 371528"/>
                <a:gd name="connsiteX2" fmla="*/ 4686609 w 4688325"/>
                <a:gd name="connsiteY2" fmla="*/ 371528 h 371528"/>
                <a:gd name="connsiteX3" fmla="*/ 0 w 4688325"/>
                <a:gd name="connsiteY3" fmla="*/ 369332 h 371528"/>
                <a:gd name="connsiteX4" fmla="*/ 0 w 4688325"/>
                <a:gd name="connsiteY4" fmla="*/ 0 h 371528"/>
                <a:gd name="connsiteX0" fmla="*/ 0 w 4673074"/>
                <a:gd name="connsiteY0" fmla="*/ 0 h 383182"/>
                <a:gd name="connsiteX1" fmla="*/ 4673074 w 4673074"/>
                <a:gd name="connsiteY1" fmla="*/ 0 h 383182"/>
                <a:gd name="connsiteX2" fmla="*/ 4669652 w 4673074"/>
                <a:gd name="connsiteY2" fmla="*/ 383182 h 383182"/>
                <a:gd name="connsiteX3" fmla="*/ 0 w 4673074"/>
                <a:gd name="connsiteY3" fmla="*/ 369332 h 383182"/>
                <a:gd name="connsiteX4" fmla="*/ 0 w 4673074"/>
                <a:gd name="connsiteY4" fmla="*/ 0 h 383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074" h="383182">
                  <a:moveTo>
                    <a:pt x="0" y="0"/>
                  </a:moveTo>
                  <a:lnTo>
                    <a:pt x="4673074" y="0"/>
                  </a:lnTo>
                  <a:cubicBezTo>
                    <a:pt x="4663743" y="123111"/>
                    <a:pt x="4678983" y="260071"/>
                    <a:pt x="4669652" y="383182"/>
                  </a:cubicBezTo>
                  <a:cubicBezTo>
                    <a:pt x="3494266" y="274947"/>
                    <a:pt x="1548361" y="369332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"Moscow" (55.7558, 37.6178) 17125000</a:t>
              </a:r>
            </a:p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"Saint Petersburg" (59.9500, 30.3167) 5351935</a:t>
              </a:r>
            </a:p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"Novosibirsk" (55.0333, 82.9167) 1602915</a:t>
              </a:r>
            </a:p>
            <a:p>
              <a:r>
                <a:rPr lang="en-US" sz="16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"Yekaterinburg" (56.8356, 60.6128) 1468833</a:t>
              </a:r>
            </a:p>
            <a:p>
              <a:r>
                <a:rPr lang="en-US" sz="16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...</a:t>
              </a:r>
            </a:p>
            <a:p>
              <a:endPara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BBD0DB-A695-4DC6-AE73-D9FF95903CE4}"/>
                </a:ext>
              </a:extLst>
            </p:cNvPr>
            <p:cNvSpPr txBox="1"/>
            <p:nvPr/>
          </p:nvSpPr>
          <p:spPr>
            <a:xfrm>
              <a:off x="7493233" y="3241615"/>
              <a:ext cx="340065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Ru.txt</a:t>
              </a:r>
              <a:endParaRPr lang="ru-RU" dirty="0">
                <a:latin typeface="Consolas" panose="020B0609020204030204" pitchFamily="49" charset="0"/>
              </a:endParaRPr>
            </a:p>
          </p:txBody>
        </p:sp>
      </p:grpSp>
      <p:sp>
        <p:nvSpPr>
          <p:cNvPr id="9" name="Объект 1">
            <a:extLst>
              <a:ext uri="{FF2B5EF4-FFF2-40B4-BE49-F238E27FC236}">
                <a16:creationId xmlns:a16="http://schemas.microsoft.com/office/drawing/2014/main" id="{281C86CB-7802-4E55-8C69-4705A6E9BA17}"/>
              </a:ext>
            </a:extLst>
          </p:cNvPr>
          <p:cNvSpPr txBox="1">
            <a:spLocks/>
          </p:cNvSpPr>
          <p:nvPr/>
        </p:nvSpPr>
        <p:spPr>
          <a:xfrm>
            <a:off x="1660628" y="4700147"/>
            <a:ext cx="7306092" cy="10170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City record: [City name, latitude, longitude, population]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</p:txBody>
      </p:sp>
    </p:spTree>
    <p:extLst>
      <p:ext uri="{BB962C8B-B14F-4D97-AF65-F5344CB8AC3E}">
        <p14:creationId xmlns:p14="http://schemas.microsoft.com/office/powerpoint/2010/main" val="2037033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6A5E-ABF9-4610-9731-91DAEADF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Считываем данные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AE96F-ADC8-43AD-957D-D89156FB2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9FAFD6C3-A47B-4E58-AAB6-97BD7EDC8D1C}"/>
              </a:ext>
            </a:extLst>
          </p:cNvPr>
          <p:cNvSpPr txBox="1">
            <a:spLocks/>
          </p:cNvSpPr>
          <p:nvPr/>
        </p:nvSpPr>
        <p:spPr>
          <a:xfrm>
            <a:off x="700091" y="1966850"/>
            <a:ext cx="5076958" cy="449659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parse_record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population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istringstream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peek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!=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'“'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ignore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population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population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0B514B4D-E802-439F-8756-3CACDAAEEC02}"/>
              </a:ext>
            </a:extLst>
          </p:cNvPr>
          <p:cNvSpPr txBox="1">
            <a:spLocks/>
          </p:cNvSpPr>
          <p:nvPr/>
        </p:nvSpPr>
        <p:spPr>
          <a:xfrm>
            <a:off x="6014872" y="1972470"/>
            <a:ext cx="5076959" cy="449659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(!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good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parse_record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&gt;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792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19807-28B1-47B7-928E-6BD6336F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B6B5-B7CE-4C51-883C-25A5ED3C1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8595360" cy="79310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Было бы удобно сравнивать записи оператором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!=</a:t>
            </a:r>
            <a:r>
              <a:rPr lang="ru-RU" dirty="0"/>
              <a:t> и выводить в их поток с помощью оператора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/>
              <a:t>. </a:t>
            </a:r>
            <a:r>
              <a:rPr lang="ru-RU" dirty="0"/>
              <a:t>Это возможно, но для этого необходимо </a:t>
            </a:r>
            <a:r>
              <a:rPr lang="ru-RU" i="1" dirty="0"/>
              <a:t>перегрузить операторы</a:t>
            </a:r>
            <a:r>
              <a:rPr lang="ru-RU" dirty="0"/>
              <a:t>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CC0C1-F9A5-45A8-930B-AEFCCAAE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B9805A49-C8CF-40AA-A136-D112525DE231}"/>
              </a:ext>
            </a:extLst>
          </p:cNvPr>
          <p:cNvSpPr txBox="1">
            <a:spLocks/>
          </p:cNvSpPr>
          <p:nvPr/>
        </p:nvSpPr>
        <p:spPr>
          <a:xfrm>
            <a:off x="1084591" y="2911151"/>
            <a:ext cx="9123101" cy="294847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operator!=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[city1, lat1, lon1, pop1]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[city2, lat2, lon2, pop2]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city1 != city2 || lat1 != lat2 || 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 != lon2 || pop1 != pop2;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[city,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pop]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city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("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pop;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9267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B44D-78FB-4EE0-B380-042EE130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логика программы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0E353-833F-478C-BC07-2C317904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8A4EB448-55FC-4A2B-8143-F969C64805BB}"/>
              </a:ext>
            </a:extLst>
          </p:cNvPr>
          <p:cNvSpPr txBox="1">
            <a:spLocks/>
          </p:cNvSpPr>
          <p:nvPr/>
        </p:nvSpPr>
        <p:spPr>
          <a:xfrm>
            <a:off x="1719074" y="1828801"/>
            <a:ext cx="7564887" cy="419099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find_closest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RecordVec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1.e9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rj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cur_dist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F33C49-049F-4EDE-B4FC-58357FC2D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074" y="6172200"/>
            <a:ext cx="7564887" cy="38255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i="1" dirty="0"/>
              <a:t>Можно ли оптимизировать эту процедуру?</a:t>
            </a:r>
          </a:p>
        </p:txBody>
      </p:sp>
    </p:spTree>
    <p:extLst>
      <p:ext uri="{BB962C8B-B14F-4D97-AF65-F5344CB8AC3E}">
        <p14:creationId xmlns:p14="http://schemas.microsoft.com/office/powerpoint/2010/main" val="4179067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7596F-46A7-46E3-9610-B44288FF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main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040DE-0A2E-4CBC-83D2-CA9BE879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5D7D2CFA-E75E-419B-8C4F-36F142F2E1F1}"/>
              </a:ext>
            </a:extLst>
          </p:cNvPr>
          <p:cNvSpPr txBox="1">
            <a:spLocks/>
          </p:cNvSpPr>
          <p:nvPr/>
        </p:nvSpPr>
        <p:spPr>
          <a:xfrm>
            <a:off x="1261872" y="2051016"/>
            <a:ext cx="7095528" cy="441804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4738714 w 5760945"/>
              <a:gd name="connsiteY1" fmla="*/ 9752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697551 w 5760945"/>
              <a:gd name="connsiteY1" fmla="*/ 18378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697551" y="18378"/>
                </a:lnTo>
                <a:cubicBezTo>
                  <a:pt x="5408302" y="1420568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"Format: ./a.exe [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ifname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 [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minpop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read_records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ifname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min_pop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[record1, record2] =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find_closest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cities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"Minimal distance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(record1, record2)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km is between: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-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record1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and</a:t>
            </a:r>
            <a:r>
              <a:rPr lang="en-US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&lt;&lt; 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- 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record2 &lt;&lt; 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4408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B3BC-DC03-40CB-8BFD-FECB7648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EFC5-DB20-4C96-A33C-E464DB31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Ввод и вывод осуществляется через потоки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cout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cin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fstream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stringstream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ru-RU" dirty="0"/>
              <a:t>Типы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pair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tuple</a:t>
            </a:r>
            <a:r>
              <a:rPr lang="en-US" dirty="0"/>
              <a:t> </a:t>
            </a:r>
            <a:r>
              <a:rPr lang="ru-RU" dirty="0"/>
              <a:t>позволяют группировать объекты</a:t>
            </a:r>
          </a:p>
          <a:p>
            <a:r>
              <a:rPr lang="ru-RU" dirty="0"/>
              <a:t>Передавать аргументы</a:t>
            </a:r>
            <a:r>
              <a:rPr lang="en-US" dirty="0"/>
              <a:t> </a:t>
            </a:r>
            <a:r>
              <a:rPr lang="ru-RU" dirty="0"/>
              <a:t>в функцию можно</a:t>
            </a:r>
          </a:p>
          <a:p>
            <a:pPr lvl="1"/>
            <a:r>
              <a:rPr lang="ru-RU" dirty="0"/>
              <a:t>По значению (или по константному значению)</a:t>
            </a:r>
          </a:p>
          <a:p>
            <a:pPr lvl="1"/>
            <a:r>
              <a:rPr lang="ru-RU" dirty="0"/>
              <a:t>По ссылке</a:t>
            </a:r>
          </a:p>
          <a:p>
            <a:pPr lvl="1"/>
            <a:r>
              <a:rPr lang="ru-RU" dirty="0"/>
              <a:t>По константной ссылке</a:t>
            </a:r>
          </a:p>
          <a:p>
            <a:r>
              <a:rPr lang="ru-RU" dirty="0"/>
              <a:t>Строки представлены типом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string</a:t>
            </a:r>
          </a:p>
          <a:p>
            <a:r>
              <a:rPr lang="ru-RU" dirty="0"/>
              <a:t>Динамические массивы представлены типом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vector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86E3B-FC37-4056-9EBC-07B57BE1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9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Изображение выглядит как черный, клавиатура, внутренний, стол&#10;&#10;Автоматически созданное описание">
            <a:extLst>
              <a:ext uri="{FF2B5EF4-FFF2-40B4-BE49-F238E27FC236}">
                <a16:creationId xmlns:a16="http://schemas.microsoft.com/office/drawing/2014/main" id="{66DD0841-9842-4AFC-8730-3F496A872E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1" b="9409"/>
          <a:stretch/>
        </p:blipFill>
        <p:spPr>
          <a:xfrm>
            <a:off x="20" y="-2"/>
            <a:ext cx="11341080" cy="68580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8AF1BA1-A592-4962-8123-486766E8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39631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Backup</a:t>
            </a:r>
            <a:endParaRPr lang="en-US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6A9390D-32D2-4702-9D74-3070BC8BB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757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72">
            <a:extLst>
              <a:ext uri="{FF2B5EF4-FFF2-40B4-BE49-F238E27FC236}">
                <a16:creationId xmlns:a16="http://schemas.microsoft.com/office/drawing/2014/main" id="{F20DB293-32EF-4BE9-A9F0-2C4C71D7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/>
          <a:lstStyle/>
          <a:p>
            <a:r>
              <a:rPr lang="ru-RU" dirty="0"/>
              <a:t>Стандартная библиотека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D3C804-D034-44A2-BCFB-792AC92B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25</a:t>
            </a:fld>
            <a:endParaRPr lang="ru-RU"/>
          </a:p>
        </p:txBody>
      </p: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7DD6DCDE-81B5-4531-887B-3AB99704E5C1}"/>
              </a:ext>
            </a:extLst>
          </p:cNvPr>
          <p:cNvGrpSpPr/>
          <p:nvPr/>
        </p:nvGrpSpPr>
        <p:grpSpPr>
          <a:xfrm>
            <a:off x="7003899" y="498738"/>
            <a:ext cx="2701210" cy="1628259"/>
            <a:chOff x="8335741" y="154478"/>
            <a:chExt cx="2701210" cy="1628259"/>
          </a:xfrm>
        </p:grpSpPr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A86DBDAE-A953-48A8-9FCB-E4EAE3C7F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9610" y="154478"/>
              <a:ext cx="1447341" cy="1628259"/>
            </a:xfrm>
            <a:prstGeom prst="rect">
              <a:avLst/>
            </a:prstGeom>
          </p:spPr>
        </p:pic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190A6601-23BF-4050-A057-ADF9AE244056}"/>
                </a:ext>
              </a:extLst>
            </p:cNvPr>
            <p:cNvSpPr/>
            <p:nvPr/>
          </p:nvSpPr>
          <p:spPr>
            <a:xfrm>
              <a:off x="8335741" y="1248145"/>
              <a:ext cx="12538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/>
                <a:t>isocpp.org</a:t>
              </a:r>
            </a:p>
          </p:txBody>
        </p:sp>
      </p:grpSp>
      <p:sp>
        <p:nvSpPr>
          <p:cNvPr id="97" name="Объект 2">
            <a:extLst>
              <a:ext uri="{FF2B5EF4-FFF2-40B4-BE49-F238E27FC236}">
                <a16:creationId xmlns:a16="http://schemas.microsoft.com/office/drawing/2014/main" id="{93C1AEF2-C4D0-4CB4-B754-B6F4437B4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425610"/>
            <a:ext cx="5138502" cy="69473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Стандартная библиотека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содержит множество полезных инструментов</a:t>
            </a:r>
            <a:endParaRPr lang="en-US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ED9A53BE-12B1-4193-9845-D64145297ACB}"/>
              </a:ext>
            </a:extLst>
          </p:cNvPr>
          <p:cNvGrpSpPr/>
          <p:nvPr/>
        </p:nvGrpSpPr>
        <p:grpSpPr>
          <a:xfrm>
            <a:off x="1230131" y="2353296"/>
            <a:ext cx="9339118" cy="4359967"/>
            <a:chOff x="1230131" y="2353296"/>
            <a:chExt cx="9339118" cy="4359967"/>
          </a:xfrm>
        </p:grpSpPr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767760AF-973D-4ED9-A7FE-D48124AC608B}"/>
                </a:ext>
              </a:extLst>
            </p:cNvPr>
            <p:cNvGrpSpPr/>
            <p:nvPr/>
          </p:nvGrpSpPr>
          <p:grpSpPr>
            <a:xfrm>
              <a:off x="4698408" y="3180456"/>
              <a:ext cx="3383693" cy="1893813"/>
              <a:chOff x="6802236" y="370364"/>
              <a:chExt cx="4055153" cy="2355079"/>
            </a:xfrm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B0F3A06-75DF-44B6-B527-840151EB7C69}"/>
                  </a:ext>
                </a:extLst>
              </p:cNvPr>
              <p:cNvSpPr/>
              <p:nvPr/>
            </p:nvSpPr>
            <p:spPr>
              <a:xfrm>
                <a:off x="6802236" y="370364"/>
                <a:ext cx="4055153" cy="2355079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806C51-B487-4F9A-AC5D-EC862CDF2816}"/>
                  </a:ext>
                </a:extLst>
              </p:cNvPr>
              <p:cNvSpPr txBox="1"/>
              <p:nvPr/>
            </p:nvSpPr>
            <p:spPr>
              <a:xfrm>
                <a:off x="6802236" y="370365"/>
                <a:ext cx="4055153" cy="32546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Контейнеры </a:t>
                </a:r>
                <a:r>
                  <a:rPr lang="en-US" sz="1400" dirty="0"/>
                  <a:t>STL</a:t>
                </a:r>
                <a:endParaRPr lang="ru-RU" sz="1400" dirty="0"/>
              </a:p>
            </p:txBody>
          </p:sp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D3CCC350-FD4D-4AEB-B319-E87A302941F2}"/>
                  </a:ext>
                </a:extLst>
              </p:cNvPr>
              <p:cNvSpPr/>
              <p:nvPr/>
            </p:nvSpPr>
            <p:spPr>
              <a:xfrm>
                <a:off x="6889071" y="834501"/>
                <a:ext cx="82562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set</a:t>
                </a:r>
                <a:endParaRPr lang="ru-RU" sz="1400" dirty="0"/>
              </a:p>
            </p:txBody>
          </p:sp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6A913407-D22D-4A81-8A1E-CEEE442E33CB}"/>
                  </a:ext>
                </a:extLst>
              </p:cNvPr>
              <p:cNvSpPr/>
              <p:nvPr/>
            </p:nvSpPr>
            <p:spPr>
              <a:xfrm>
                <a:off x="7810730" y="834501"/>
                <a:ext cx="82562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list</a:t>
                </a:r>
                <a:endParaRPr lang="ru-RU" sz="1400" dirty="0"/>
              </a:p>
            </p:txBody>
          </p:sp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03786580-E156-4431-8BBD-5C9287AB5E66}"/>
                  </a:ext>
                </a:extLst>
              </p:cNvPr>
              <p:cNvSpPr/>
              <p:nvPr/>
            </p:nvSpPr>
            <p:spPr>
              <a:xfrm>
                <a:off x="8732389" y="834502"/>
                <a:ext cx="90196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array</a:t>
                </a:r>
                <a:endParaRPr lang="ru-RU" sz="1400" dirty="0"/>
              </a:p>
            </p:txBody>
          </p:sp>
          <p:sp>
            <p:nvSpPr>
              <p:cNvPr id="11" name="Прямоугольник: скругленные углы 10">
                <a:extLst>
                  <a:ext uri="{FF2B5EF4-FFF2-40B4-BE49-F238E27FC236}">
                    <a16:creationId xmlns:a16="http://schemas.microsoft.com/office/drawing/2014/main" id="{7B0CEBA9-8578-4E9B-BF41-58DB6379B352}"/>
                  </a:ext>
                </a:extLst>
              </p:cNvPr>
              <p:cNvSpPr/>
              <p:nvPr/>
            </p:nvSpPr>
            <p:spPr>
              <a:xfrm>
                <a:off x="6889071" y="1326750"/>
                <a:ext cx="9907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bitset</a:t>
                </a:r>
                <a:endParaRPr lang="ru-RU" sz="1400" dirty="0"/>
              </a:p>
            </p:txBody>
          </p:sp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C878636B-BC07-4BA0-9439-346B417565AA}"/>
                  </a:ext>
                </a:extLst>
              </p:cNvPr>
              <p:cNvSpPr/>
              <p:nvPr/>
            </p:nvSpPr>
            <p:spPr>
              <a:xfrm>
                <a:off x="7966644" y="1347926"/>
                <a:ext cx="101905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vector</a:t>
                </a:r>
                <a:endParaRPr lang="ru-RU" sz="1400" dirty="0"/>
              </a:p>
            </p:txBody>
          </p:sp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8162F980-1848-477C-936F-0BDF3F2C03CF}"/>
                  </a:ext>
                </a:extLst>
              </p:cNvPr>
              <p:cNvSpPr/>
              <p:nvPr/>
            </p:nvSpPr>
            <p:spPr>
              <a:xfrm>
                <a:off x="9727608" y="834501"/>
                <a:ext cx="80071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map</a:t>
                </a:r>
                <a:endParaRPr lang="ru-RU" sz="1400" dirty="0"/>
              </a:p>
            </p:txBody>
          </p:sp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8E8C1FB4-826E-4DDE-AE66-9D225819538A}"/>
                  </a:ext>
                </a:extLst>
              </p:cNvPr>
              <p:cNvSpPr/>
              <p:nvPr/>
            </p:nvSpPr>
            <p:spPr>
              <a:xfrm>
                <a:off x="9072536" y="1321183"/>
                <a:ext cx="90196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stack</a:t>
                </a:r>
                <a:endParaRPr lang="ru-RU" sz="1400" dirty="0"/>
              </a:p>
            </p:txBody>
          </p:sp>
          <p:sp>
            <p:nvSpPr>
              <p:cNvPr id="15" name="Прямоугольник: скругленные углы 14">
                <a:extLst>
                  <a:ext uri="{FF2B5EF4-FFF2-40B4-BE49-F238E27FC236}">
                    <a16:creationId xmlns:a16="http://schemas.microsoft.com/office/drawing/2014/main" id="{E82AC80A-31EE-45FD-8738-262205E6AED4}"/>
                  </a:ext>
                </a:extLst>
              </p:cNvPr>
              <p:cNvSpPr/>
              <p:nvPr/>
            </p:nvSpPr>
            <p:spPr>
              <a:xfrm>
                <a:off x="6889071" y="1820384"/>
                <a:ext cx="101905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queue</a:t>
                </a:r>
                <a:endParaRPr lang="ru-RU" sz="1400" dirty="0"/>
              </a:p>
            </p:txBody>
          </p:sp>
          <p:sp>
            <p:nvSpPr>
              <p:cNvPr id="16" name="Прямоугольник: скругленные углы 15">
                <a:extLst>
                  <a:ext uri="{FF2B5EF4-FFF2-40B4-BE49-F238E27FC236}">
                    <a16:creationId xmlns:a16="http://schemas.microsoft.com/office/drawing/2014/main" id="{92803CDC-29F6-4CFB-8E41-52265869C529}"/>
                  </a:ext>
                </a:extLst>
              </p:cNvPr>
              <p:cNvSpPr/>
              <p:nvPr/>
            </p:nvSpPr>
            <p:spPr>
              <a:xfrm>
                <a:off x="6889071" y="2272331"/>
                <a:ext cx="180044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unordered_set</a:t>
                </a:r>
                <a:endParaRPr lang="ru-RU" sz="1400" dirty="0"/>
              </a:p>
            </p:txBody>
          </p:sp>
          <p:sp>
            <p:nvSpPr>
              <p:cNvPr id="17" name="Прямоугольник: скругленные углы 16">
                <a:extLst>
                  <a:ext uri="{FF2B5EF4-FFF2-40B4-BE49-F238E27FC236}">
                    <a16:creationId xmlns:a16="http://schemas.microsoft.com/office/drawing/2014/main" id="{E658C8F9-D280-48B5-BDF5-780734C3422A}"/>
                  </a:ext>
                </a:extLst>
              </p:cNvPr>
              <p:cNvSpPr/>
              <p:nvPr/>
            </p:nvSpPr>
            <p:spPr>
              <a:xfrm>
                <a:off x="8810023" y="2266764"/>
                <a:ext cx="1981444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unordered_map</a:t>
                </a:r>
                <a:endParaRPr lang="ru-RU" sz="1400" dirty="0"/>
              </a:p>
            </p:txBody>
          </p:sp>
          <p:sp>
            <p:nvSpPr>
              <p:cNvPr id="18" name="Прямоугольник: скругленные углы 17">
                <a:extLst>
                  <a:ext uri="{FF2B5EF4-FFF2-40B4-BE49-F238E27FC236}">
                    <a16:creationId xmlns:a16="http://schemas.microsoft.com/office/drawing/2014/main" id="{A1ECB7D3-67F0-4CD2-BF64-008A06DF51BA}"/>
                  </a:ext>
                </a:extLst>
              </p:cNvPr>
              <p:cNvSpPr/>
              <p:nvPr/>
            </p:nvSpPr>
            <p:spPr>
              <a:xfrm>
                <a:off x="7994963" y="1820384"/>
                <a:ext cx="1656333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forward_list</a:t>
                </a:r>
                <a:endParaRPr lang="ru-RU" sz="1400" dirty="0"/>
              </a:p>
            </p:txBody>
          </p:sp>
        </p:grp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526F8CC0-6232-4F09-B5A3-D54871EB9D33}"/>
                </a:ext>
              </a:extLst>
            </p:cNvPr>
            <p:cNvGrpSpPr/>
            <p:nvPr/>
          </p:nvGrpSpPr>
          <p:grpSpPr>
            <a:xfrm>
              <a:off x="4698408" y="5191337"/>
              <a:ext cx="3383693" cy="1079150"/>
              <a:chOff x="6798767" y="3543081"/>
              <a:chExt cx="3579230" cy="1455047"/>
            </a:xfrm>
          </p:grpSpPr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3D473D7D-6783-456E-BD0F-2EC3792ED46E}"/>
                  </a:ext>
                </a:extLst>
              </p:cNvPr>
              <p:cNvSpPr/>
              <p:nvPr/>
            </p:nvSpPr>
            <p:spPr>
              <a:xfrm>
                <a:off x="6798767" y="3543081"/>
                <a:ext cx="3579230" cy="1455047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59A28A-9EF4-4DE8-B086-D128B1A6115F}"/>
                  </a:ext>
                </a:extLst>
              </p:cNvPr>
              <p:cNvSpPr txBox="1"/>
              <p:nvPr/>
            </p:nvSpPr>
            <p:spPr>
              <a:xfrm>
                <a:off x="6798767" y="3545946"/>
                <a:ext cx="3579230" cy="35288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Многопоточность</a:t>
                </a:r>
              </a:p>
            </p:txBody>
          </p:sp>
          <p:sp>
            <p:nvSpPr>
              <p:cNvPr id="23" name="Прямоугольник: скругленные углы 22">
                <a:extLst>
                  <a:ext uri="{FF2B5EF4-FFF2-40B4-BE49-F238E27FC236}">
                    <a16:creationId xmlns:a16="http://schemas.microsoft.com/office/drawing/2014/main" id="{37FCF60D-1EE8-4650-9BB3-3DC42C7BB51F}"/>
                  </a:ext>
                </a:extLst>
              </p:cNvPr>
              <p:cNvSpPr/>
              <p:nvPr/>
            </p:nvSpPr>
            <p:spPr>
              <a:xfrm>
                <a:off x="7094129" y="4018960"/>
                <a:ext cx="859165" cy="312894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thread</a:t>
                </a:r>
                <a:endParaRPr lang="ru-RU" sz="1400" dirty="0"/>
              </a:p>
            </p:txBody>
          </p:sp>
          <p:sp>
            <p:nvSpPr>
              <p:cNvPr id="25" name="Прямоугольник: скругленные углы 24">
                <a:extLst>
                  <a:ext uri="{FF2B5EF4-FFF2-40B4-BE49-F238E27FC236}">
                    <a16:creationId xmlns:a16="http://schemas.microsoft.com/office/drawing/2014/main" id="{CE07D313-E276-4250-B760-E54B6FF3DE15}"/>
                  </a:ext>
                </a:extLst>
              </p:cNvPr>
              <p:cNvSpPr/>
              <p:nvPr/>
            </p:nvSpPr>
            <p:spPr>
              <a:xfrm>
                <a:off x="8098521" y="4018960"/>
                <a:ext cx="859165" cy="312893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mutex</a:t>
                </a:r>
                <a:endParaRPr lang="ru-RU" sz="1400" dirty="0"/>
              </a:p>
            </p:txBody>
          </p:sp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51175F77-12E7-4547-93AB-64A9F35582F0}"/>
                  </a:ext>
                </a:extLst>
              </p:cNvPr>
              <p:cNvSpPr/>
              <p:nvPr/>
            </p:nvSpPr>
            <p:spPr>
              <a:xfrm>
                <a:off x="7625039" y="4488551"/>
                <a:ext cx="1881884" cy="352880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condition_variable</a:t>
                </a:r>
                <a:endParaRPr lang="ru-RU" sz="1400" dirty="0"/>
              </a:p>
            </p:txBody>
          </p:sp>
          <p:sp>
            <p:nvSpPr>
              <p:cNvPr id="29" name="Прямоугольник: скругленные углы 28">
                <a:extLst>
                  <a:ext uri="{FF2B5EF4-FFF2-40B4-BE49-F238E27FC236}">
                    <a16:creationId xmlns:a16="http://schemas.microsoft.com/office/drawing/2014/main" id="{4736FF17-E764-4DB0-B8F6-8F864DA9BFD9}"/>
                  </a:ext>
                </a:extLst>
              </p:cNvPr>
              <p:cNvSpPr/>
              <p:nvPr/>
            </p:nvSpPr>
            <p:spPr>
              <a:xfrm>
                <a:off x="9102913" y="4018958"/>
                <a:ext cx="857313" cy="312895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future</a:t>
                </a:r>
                <a:endParaRPr lang="ru-RU" sz="1400" dirty="0"/>
              </a:p>
            </p:txBody>
          </p:sp>
        </p:grpSp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9E68380A-27E3-4AE6-95CB-923D7A2B773F}"/>
                </a:ext>
              </a:extLst>
            </p:cNvPr>
            <p:cNvGrpSpPr/>
            <p:nvPr/>
          </p:nvGrpSpPr>
          <p:grpSpPr>
            <a:xfrm>
              <a:off x="8216885" y="3180456"/>
              <a:ext cx="2345210" cy="1079150"/>
              <a:chOff x="6796606" y="4694681"/>
              <a:chExt cx="2773522" cy="1461060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6BE85A98-3274-4EE4-AAC2-F8A1103A86AF}"/>
                  </a:ext>
                </a:extLst>
              </p:cNvPr>
              <p:cNvSpPr/>
              <p:nvPr/>
            </p:nvSpPr>
            <p:spPr>
              <a:xfrm>
                <a:off x="6796606" y="4700694"/>
                <a:ext cx="2773522" cy="1455047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34E27E-1833-44F0-8D09-5EA2B8466D23}"/>
                  </a:ext>
                </a:extLst>
              </p:cNvPr>
              <p:cNvSpPr txBox="1"/>
              <p:nvPr/>
            </p:nvSpPr>
            <p:spPr>
              <a:xfrm>
                <a:off x="6796606" y="4694681"/>
                <a:ext cx="2773522" cy="35434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Численные библиотеки</a:t>
                </a:r>
              </a:p>
            </p:txBody>
          </p:sp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83BB43AA-2B66-4004-AC6E-ED95EB0813E9}"/>
                  </a:ext>
                </a:extLst>
              </p:cNvPr>
              <p:cNvSpPr/>
              <p:nvPr/>
            </p:nvSpPr>
            <p:spPr>
              <a:xfrm>
                <a:off x="6913542" y="5176573"/>
                <a:ext cx="118180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complex</a:t>
                </a:r>
                <a:endParaRPr lang="ru-RU" sz="1400" dirty="0"/>
              </a:p>
            </p:txBody>
          </p:sp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F1295BCD-FE3A-4319-9B2F-BF8EC58CE348}"/>
                  </a:ext>
                </a:extLst>
              </p:cNvPr>
              <p:cNvSpPr/>
              <p:nvPr/>
            </p:nvSpPr>
            <p:spPr>
              <a:xfrm>
                <a:off x="8141902" y="5176574"/>
                <a:ext cx="114508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random</a:t>
                </a:r>
                <a:endParaRPr lang="ru-RU" sz="1400" dirty="0"/>
              </a:p>
            </p:txBody>
          </p:sp>
          <p:sp>
            <p:nvSpPr>
              <p:cNvPr id="42" name="Прямоугольник: скругленные углы 41">
                <a:extLst>
                  <a:ext uri="{FF2B5EF4-FFF2-40B4-BE49-F238E27FC236}">
                    <a16:creationId xmlns:a16="http://schemas.microsoft.com/office/drawing/2014/main" id="{8243CF3A-0166-48B1-97C0-1C82007A7D60}"/>
                  </a:ext>
                </a:extLst>
              </p:cNvPr>
              <p:cNvSpPr/>
              <p:nvPr/>
            </p:nvSpPr>
            <p:spPr>
              <a:xfrm>
                <a:off x="6918573" y="5646165"/>
                <a:ext cx="122332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valarray</a:t>
                </a:r>
                <a:endParaRPr lang="ru-RU" sz="1400" dirty="0"/>
              </a:p>
            </p:txBody>
          </p:sp>
          <p:sp>
            <p:nvSpPr>
              <p:cNvPr id="43" name="Прямоугольник: скругленные углы 42">
                <a:extLst>
                  <a:ext uri="{FF2B5EF4-FFF2-40B4-BE49-F238E27FC236}">
                    <a16:creationId xmlns:a16="http://schemas.microsoft.com/office/drawing/2014/main" id="{85E48313-D1D6-4C59-AC90-C8CAA5438A29}"/>
                  </a:ext>
                </a:extLst>
              </p:cNvPr>
              <p:cNvSpPr/>
              <p:nvPr/>
            </p:nvSpPr>
            <p:spPr>
              <a:xfrm>
                <a:off x="8207294" y="5646165"/>
                <a:ext cx="120545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numeric</a:t>
                </a:r>
                <a:endParaRPr lang="ru-RU" sz="1400" dirty="0"/>
              </a:p>
            </p:txBody>
          </p:sp>
        </p:grpSp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2EE6A8C1-D220-481E-A88A-93C3ACA9372A}"/>
                </a:ext>
              </a:extLst>
            </p:cNvPr>
            <p:cNvGrpSpPr/>
            <p:nvPr/>
          </p:nvGrpSpPr>
          <p:grpSpPr>
            <a:xfrm>
              <a:off x="1281713" y="3180456"/>
              <a:ext cx="3273674" cy="1419928"/>
              <a:chOff x="276916" y="364888"/>
              <a:chExt cx="3636716" cy="1792848"/>
            </a:xfrm>
          </p:grpSpPr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06F01E91-3772-4691-9F9C-605A31826039}"/>
                  </a:ext>
                </a:extLst>
              </p:cNvPr>
              <p:cNvSpPr/>
              <p:nvPr/>
            </p:nvSpPr>
            <p:spPr>
              <a:xfrm>
                <a:off x="276917" y="365337"/>
                <a:ext cx="3636715" cy="179239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6800BD7-7470-4201-B0C1-4F816F220006}"/>
                  </a:ext>
                </a:extLst>
              </p:cNvPr>
              <p:cNvSpPr txBox="1"/>
              <p:nvPr/>
            </p:nvSpPr>
            <p:spPr>
              <a:xfrm>
                <a:off x="276916" y="364888"/>
                <a:ext cx="3636715" cy="33855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Потоки ввода-вывода</a:t>
                </a:r>
              </a:p>
            </p:txBody>
          </p:sp>
          <p:sp>
            <p:nvSpPr>
              <p:cNvPr id="48" name="Прямоугольник: скругленные углы 47">
                <a:extLst>
                  <a:ext uri="{FF2B5EF4-FFF2-40B4-BE49-F238E27FC236}">
                    <a16:creationId xmlns:a16="http://schemas.microsoft.com/office/drawing/2014/main" id="{63D6A555-F381-4D07-9075-A23F0B03AE30}"/>
                  </a:ext>
                </a:extLst>
              </p:cNvPr>
              <p:cNvSpPr/>
              <p:nvPr/>
            </p:nvSpPr>
            <p:spPr>
              <a:xfrm>
                <a:off x="393853" y="841216"/>
                <a:ext cx="670475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ios</a:t>
                </a:r>
                <a:endParaRPr lang="ru-RU" sz="1400" dirty="0"/>
              </a:p>
            </p:txBody>
          </p:sp>
          <p:sp>
            <p:nvSpPr>
              <p:cNvPr id="49" name="Прямоугольник: скругленные углы 48">
                <a:extLst>
                  <a:ext uri="{FF2B5EF4-FFF2-40B4-BE49-F238E27FC236}">
                    <a16:creationId xmlns:a16="http://schemas.microsoft.com/office/drawing/2014/main" id="{6C3AAF60-1924-4436-B317-2A987B7F168C}"/>
                  </a:ext>
                </a:extLst>
              </p:cNvPr>
              <p:cNvSpPr/>
              <p:nvPr/>
            </p:nvSpPr>
            <p:spPr>
              <a:xfrm>
                <a:off x="1172685" y="847710"/>
                <a:ext cx="122332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iostream</a:t>
                </a:r>
                <a:endParaRPr lang="ru-RU" sz="1400" dirty="0"/>
              </a:p>
            </p:txBody>
          </p:sp>
          <p:sp>
            <p:nvSpPr>
              <p:cNvPr id="50" name="Прямоугольник: скругленные углы 49">
                <a:extLst>
                  <a:ext uri="{FF2B5EF4-FFF2-40B4-BE49-F238E27FC236}">
                    <a16:creationId xmlns:a16="http://schemas.microsoft.com/office/drawing/2014/main" id="{322512BD-5EE9-4CF4-BE0D-677A718F6045}"/>
                  </a:ext>
                </a:extLst>
              </p:cNvPr>
              <p:cNvSpPr/>
              <p:nvPr/>
            </p:nvSpPr>
            <p:spPr>
              <a:xfrm>
                <a:off x="2504373" y="844844"/>
                <a:ext cx="110112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fstream</a:t>
                </a:r>
                <a:endParaRPr lang="ru-RU" sz="1400" dirty="0"/>
              </a:p>
            </p:txBody>
          </p:sp>
          <p:sp>
            <p:nvSpPr>
              <p:cNvPr id="51" name="Прямоугольник: скругленные углы 50">
                <a:extLst>
                  <a:ext uri="{FF2B5EF4-FFF2-40B4-BE49-F238E27FC236}">
                    <a16:creationId xmlns:a16="http://schemas.microsoft.com/office/drawing/2014/main" id="{EAC4C703-0359-454F-BE15-FF0037A82D7E}"/>
                  </a:ext>
                </a:extLst>
              </p:cNvPr>
              <p:cNvSpPr/>
              <p:nvPr/>
            </p:nvSpPr>
            <p:spPr>
              <a:xfrm>
                <a:off x="393853" y="1279866"/>
                <a:ext cx="11423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iomanip</a:t>
                </a:r>
                <a:endParaRPr lang="ru-RU" sz="1400" dirty="0"/>
              </a:p>
            </p:txBody>
          </p:sp>
          <p:sp>
            <p:nvSpPr>
              <p:cNvPr id="52" name="Прямоугольник: скругленные углы 51">
                <a:extLst>
                  <a:ext uri="{FF2B5EF4-FFF2-40B4-BE49-F238E27FC236}">
                    <a16:creationId xmlns:a16="http://schemas.microsoft.com/office/drawing/2014/main" id="{460F8E4C-B448-4F9E-9BF8-315946695296}"/>
                  </a:ext>
                </a:extLst>
              </p:cNvPr>
              <p:cNvSpPr/>
              <p:nvPr/>
            </p:nvSpPr>
            <p:spPr>
              <a:xfrm>
                <a:off x="1623026" y="1278845"/>
                <a:ext cx="11423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sstream</a:t>
                </a:r>
                <a:endParaRPr lang="ru-RU" sz="1400" dirty="0"/>
              </a:p>
            </p:txBody>
          </p:sp>
          <p:sp>
            <p:nvSpPr>
              <p:cNvPr id="53" name="Прямоугольник: скругленные углы 52">
                <a:extLst>
                  <a:ext uri="{FF2B5EF4-FFF2-40B4-BE49-F238E27FC236}">
                    <a16:creationId xmlns:a16="http://schemas.microsoft.com/office/drawing/2014/main" id="{58C86C51-1B10-45C8-B8DA-1869C6526ABB}"/>
                  </a:ext>
                </a:extLst>
              </p:cNvPr>
              <p:cNvSpPr/>
              <p:nvPr/>
            </p:nvSpPr>
            <p:spPr>
              <a:xfrm>
                <a:off x="398866" y="1712022"/>
                <a:ext cx="1142339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ostream</a:t>
                </a:r>
                <a:endParaRPr lang="ru-RU" sz="1400" dirty="0"/>
              </a:p>
            </p:txBody>
          </p:sp>
          <p:sp>
            <p:nvSpPr>
              <p:cNvPr id="54" name="Прямоугольник: скругленные углы 53">
                <a:extLst>
                  <a:ext uri="{FF2B5EF4-FFF2-40B4-BE49-F238E27FC236}">
                    <a16:creationId xmlns:a16="http://schemas.microsoft.com/office/drawing/2014/main" id="{3703685D-286C-4D63-9264-2B2F0441F67B}"/>
                  </a:ext>
                </a:extLst>
              </p:cNvPr>
              <p:cNvSpPr/>
              <p:nvPr/>
            </p:nvSpPr>
            <p:spPr>
              <a:xfrm>
                <a:off x="2847184" y="1278845"/>
                <a:ext cx="967775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iosfwd</a:t>
                </a:r>
                <a:endParaRPr lang="ru-RU" sz="1400" dirty="0"/>
              </a:p>
            </p:txBody>
          </p:sp>
          <p:sp>
            <p:nvSpPr>
              <p:cNvPr id="55" name="Прямоугольник: скругленные углы 54">
                <a:extLst>
                  <a:ext uri="{FF2B5EF4-FFF2-40B4-BE49-F238E27FC236}">
                    <a16:creationId xmlns:a16="http://schemas.microsoft.com/office/drawing/2014/main" id="{4F1A983C-4504-4924-A58C-5182FB0D8267}"/>
                  </a:ext>
                </a:extLst>
              </p:cNvPr>
              <p:cNvSpPr/>
              <p:nvPr/>
            </p:nvSpPr>
            <p:spPr>
              <a:xfrm>
                <a:off x="1623026" y="1717495"/>
                <a:ext cx="139262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streambuf</a:t>
                </a:r>
                <a:endParaRPr lang="ru-RU" sz="1400" dirty="0"/>
              </a:p>
            </p:txBody>
          </p:sp>
        </p:grpSp>
        <p:grpSp>
          <p:nvGrpSpPr>
            <p:cNvPr id="82" name="Группа 81">
              <a:extLst>
                <a:ext uri="{FF2B5EF4-FFF2-40B4-BE49-F238E27FC236}">
                  <a16:creationId xmlns:a16="http://schemas.microsoft.com/office/drawing/2014/main" id="{545D10AB-DA79-4CC7-9649-6AB73795530D}"/>
                </a:ext>
              </a:extLst>
            </p:cNvPr>
            <p:cNvGrpSpPr/>
            <p:nvPr/>
          </p:nvGrpSpPr>
          <p:grpSpPr>
            <a:xfrm>
              <a:off x="6533854" y="2353296"/>
              <a:ext cx="2345210" cy="721870"/>
              <a:chOff x="7764920" y="2306648"/>
              <a:chExt cx="2489003" cy="945656"/>
            </a:xfrm>
          </p:grpSpPr>
          <p:sp>
            <p:nvSpPr>
              <p:cNvPr id="76" name="Прямоугольник 75">
                <a:extLst>
                  <a:ext uri="{FF2B5EF4-FFF2-40B4-BE49-F238E27FC236}">
                    <a16:creationId xmlns:a16="http://schemas.microsoft.com/office/drawing/2014/main" id="{C89A0C91-C7CF-41C6-AE50-76A745F25FB1}"/>
                  </a:ext>
                </a:extLst>
              </p:cNvPr>
              <p:cNvSpPr/>
              <p:nvPr/>
            </p:nvSpPr>
            <p:spPr>
              <a:xfrm>
                <a:off x="7764921" y="2312662"/>
                <a:ext cx="2489002" cy="93964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FC4938B-B182-461D-B6E3-AD55F6620B41}"/>
                  </a:ext>
                </a:extLst>
              </p:cNvPr>
              <p:cNvSpPr txBox="1"/>
              <p:nvPr/>
            </p:nvSpPr>
            <p:spPr>
              <a:xfrm>
                <a:off x="7764920" y="2306648"/>
                <a:ext cx="2489003" cy="3428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Строки</a:t>
                </a:r>
              </a:p>
            </p:txBody>
          </p:sp>
          <p:sp>
            <p:nvSpPr>
              <p:cNvPr id="78" name="Прямоугольник: скругленные углы 77">
                <a:extLst>
                  <a:ext uri="{FF2B5EF4-FFF2-40B4-BE49-F238E27FC236}">
                    <a16:creationId xmlns:a16="http://schemas.microsoft.com/office/drawing/2014/main" id="{0C4DC526-963D-4509-97D4-3C7DBFD4FC95}"/>
                  </a:ext>
                </a:extLst>
              </p:cNvPr>
              <p:cNvSpPr/>
              <p:nvPr/>
            </p:nvSpPr>
            <p:spPr>
              <a:xfrm>
                <a:off x="7873669" y="2788540"/>
                <a:ext cx="109906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string</a:t>
                </a:r>
                <a:endParaRPr lang="ru-RU" sz="1400" dirty="0"/>
              </a:p>
            </p:txBody>
          </p:sp>
          <p:sp>
            <p:nvSpPr>
              <p:cNvPr id="79" name="Прямоугольник: скругленные углы 78">
                <a:extLst>
                  <a:ext uri="{FF2B5EF4-FFF2-40B4-BE49-F238E27FC236}">
                    <a16:creationId xmlns:a16="http://schemas.microsoft.com/office/drawing/2014/main" id="{37F2EA86-2CF5-4419-8450-EF261B31A3CD}"/>
                  </a:ext>
                </a:extLst>
              </p:cNvPr>
              <p:cNvSpPr/>
              <p:nvPr/>
            </p:nvSpPr>
            <p:spPr>
              <a:xfrm>
                <a:off x="9016031" y="2788541"/>
                <a:ext cx="1064921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regex</a:t>
                </a:r>
                <a:endParaRPr lang="ru-RU" sz="1400" dirty="0"/>
              </a:p>
            </p:txBody>
          </p:sp>
        </p:grpSp>
        <p:grpSp>
          <p:nvGrpSpPr>
            <p:cNvPr id="83" name="Группа 82">
              <a:extLst>
                <a:ext uri="{FF2B5EF4-FFF2-40B4-BE49-F238E27FC236}">
                  <a16:creationId xmlns:a16="http://schemas.microsoft.com/office/drawing/2014/main" id="{0A20E428-688D-4BDE-90D5-1DD9CBBC5975}"/>
                </a:ext>
              </a:extLst>
            </p:cNvPr>
            <p:cNvGrpSpPr/>
            <p:nvPr/>
          </p:nvGrpSpPr>
          <p:grpSpPr>
            <a:xfrm>
              <a:off x="8224039" y="5552484"/>
              <a:ext cx="2338056" cy="719043"/>
              <a:chOff x="7764920" y="2304625"/>
              <a:chExt cx="2489003" cy="947679"/>
            </a:xfrm>
          </p:grpSpPr>
          <p:sp>
            <p:nvSpPr>
              <p:cNvPr id="84" name="Прямоугольник 83">
                <a:extLst>
                  <a:ext uri="{FF2B5EF4-FFF2-40B4-BE49-F238E27FC236}">
                    <a16:creationId xmlns:a16="http://schemas.microsoft.com/office/drawing/2014/main" id="{E7BD760E-5261-4226-8D27-A1793EF599F5}"/>
                  </a:ext>
                </a:extLst>
              </p:cNvPr>
              <p:cNvSpPr/>
              <p:nvPr/>
            </p:nvSpPr>
            <p:spPr>
              <a:xfrm>
                <a:off x="7764921" y="2312662"/>
                <a:ext cx="2489002" cy="93964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045403F-DAE2-4426-8BB7-0751EC9065EF}"/>
                  </a:ext>
                </a:extLst>
              </p:cNvPr>
              <p:cNvSpPr txBox="1"/>
              <p:nvPr/>
            </p:nvSpPr>
            <p:spPr>
              <a:xfrm>
                <a:off x="7764920" y="2304625"/>
                <a:ext cx="2489003" cy="34285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Локализация</a:t>
                </a:r>
              </a:p>
            </p:txBody>
          </p:sp>
          <p:sp>
            <p:nvSpPr>
              <p:cNvPr id="86" name="Прямоугольник: скругленные углы 85">
                <a:extLst>
                  <a:ext uri="{FF2B5EF4-FFF2-40B4-BE49-F238E27FC236}">
                    <a16:creationId xmlns:a16="http://schemas.microsoft.com/office/drawing/2014/main" id="{3B0C3937-6D8B-480A-BB8E-54445AA96B8C}"/>
                  </a:ext>
                </a:extLst>
              </p:cNvPr>
              <p:cNvSpPr/>
              <p:nvPr/>
            </p:nvSpPr>
            <p:spPr>
              <a:xfrm>
                <a:off x="7873669" y="2788540"/>
                <a:ext cx="1099068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locale</a:t>
                </a:r>
                <a:endParaRPr lang="ru-RU" sz="1400" dirty="0"/>
              </a:p>
            </p:txBody>
          </p:sp>
          <p:sp>
            <p:nvSpPr>
              <p:cNvPr id="87" name="Прямоугольник: скругленные углы 86">
                <a:extLst>
                  <a:ext uri="{FF2B5EF4-FFF2-40B4-BE49-F238E27FC236}">
                    <a16:creationId xmlns:a16="http://schemas.microsoft.com/office/drawing/2014/main" id="{E2DDF6B8-C855-4470-B51B-E042E3CE903A}"/>
                  </a:ext>
                </a:extLst>
              </p:cNvPr>
              <p:cNvSpPr/>
              <p:nvPr/>
            </p:nvSpPr>
            <p:spPr>
              <a:xfrm>
                <a:off x="9016031" y="2788541"/>
                <a:ext cx="1064921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codesvt</a:t>
                </a:r>
                <a:endParaRPr lang="ru-RU" sz="1400" dirty="0"/>
              </a:p>
            </p:txBody>
          </p:sp>
        </p:grpSp>
        <p:grpSp>
          <p:nvGrpSpPr>
            <p:cNvPr id="94" name="Группа 93">
              <a:extLst>
                <a:ext uri="{FF2B5EF4-FFF2-40B4-BE49-F238E27FC236}">
                  <a16:creationId xmlns:a16="http://schemas.microsoft.com/office/drawing/2014/main" id="{AD60C1D1-85E5-4EF0-A3CA-754A8FCB965E}"/>
                </a:ext>
              </a:extLst>
            </p:cNvPr>
            <p:cNvGrpSpPr/>
            <p:nvPr/>
          </p:nvGrpSpPr>
          <p:grpSpPr>
            <a:xfrm>
              <a:off x="9012543" y="2353296"/>
              <a:ext cx="1556706" cy="732178"/>
              <a:chOff x="8368828" y="5907143"/>
              <a:chExt cx="2489003" cy="867136"/>
            </a:xfrm>
          </p:grpSpPr>
          <p:sp>
            <p:nvSpPr>
              <p:cNvPr id="89" name="Прямоугольник 88">
                <a:extLst>
                  <a:ext uri="{FF2B5EF4-FFF2-40B4-BE49-F238E27FC236}">
                    <a16:creationId xmlns:a16="http://schemas.microsoft.com/office/drawing/2014/main" id="{F03C2666-BC4E-4D5A-B03D-36FAF3DADF96}"/>
                  </a:ext>
                </a:extLst>
              </p:cNvPr>
              <p:cNvSpPr/>
              <p:nvPr/>
            </p:nvSpPr>
            <p:spPr>
              <a:xfrm>
                <a:off x="8368830" y="5913157"/>
                <a:ext cx="2489001" cy="86112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A333D96-8CCF-48C9-8FC8-41BAED577236}"/>
                  </a:ext>
                </a:extLst>
              </p:cNvPr>
              <p:cNvSpPr txBox="1"/>
              <p:nvPr/>
            </p:nvSpPr>
            <p:spPr>
              <a:xfrm>
                <a:off x="8368828" y="6306370"/>
                <a:ext cx="2489003" cy="307776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[21 </a:t>
                </a:r>
                <a:r>
                  <a:rPr lang="ru-RU" sz="1400" dirty="0"/>
                  <a:t>файл</a:t>
                </a:r>
                <a:r>
                  <a:rPr lang="en-US" sz="1400" dirty="0"/>
                  <a:t>]</a:t>
                </a:r>
                <a:endParaRPr lang="ru-RU" sz="14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F4E84E6-DEC3-4A15-BB81-97BC612CBE94}"/>
                  </a:ext>
                </a:extLst>
              </p:cNvPr>
              <p:cNvSpPr txBox="1"/>
              <p:nvPr/>
            </p:nvSpPr>
            <p:spPr>
              <a:xfrm>
                <a:off x="8368828" y="5907143"/>
                <a:ext cx="2489003" cy="36194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Библиотеки </a:t>
                </a:r>
                <a:r>
                  <a:rPr lang="en-US" sz="1400" dirty="0"/>
                  <a:t>C</a:t>
                </a:r>
                <a:endParaRPr lang="ru-RU" sz="1400" dirty="0"/>
              </a:p>
            </p:txBody>
          </p:sp>
        </p:grpSp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7B62AB75-03CF-4BBE-95A7-57A7FE3EE257}"/>
                </a:ext>
              </a:extLst>
            </p:cNvPr>
            <p:cNvGrpSpPr/>
            <p:nvPr/>
          </p:nvGrpSpPr>
          <p:grpSpPr>
            <a:xfrm>
              <a:off x="1286638" y="4746975"/>
              <a:ext cx="3269571" cy="1524552"/>
              <a:chOff x="168708" y="3948690"/>
              <a:chExt cx="3595992" cy="1792848"/>
            </a:xfrm>
          </p:grpSpPr>
          <p:sp>
            <p:nvSpPr>
              <p:cNvPr id="58" name="Прямоугольник 57">
                <a:extLst>
                  <a:ext uri="{FF2B5EF4-FFF2-40B4-BE49-F238E27FC236}">
                    <a16:creationId xmlns:a16="http://schemas.microsoft.com/office/drawing/2014/main" id="{4A127359-221B-4073-A57D-9E86D06B8059}"/>
                  </a:ext>
                </a:extLst>
              </p:cNvPr>
              <p:cNvSpPr/>
              <p:nvPr/>
            </p:nvSpPr>
            <p:spPr>
              <a:xfrm>
                <a:off x="168709" y="3949139"/>
                <a:ext cx="3595991" cy="179239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263913-55F2-4471-B5C0-F33CF9C8463F}"/>
                  </a:ext>
                </a:extLst>
              </p:cNvPr>
              <p:cNvSpPr txBox="1"/>
              <p:nvPr/>
            </p:nvSpPr>
            <p:spPr>
              <a:xfrm>
                <a:off x="168708" y="3948690"/>
                <a:ext cx="3595991" cy="307777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Общие</a:t>
                </a:r>
              </a:p>
            </p:txBody>
          </p:sp>
          <p:sp>
            <p:nvSpPr>
              <p:cNvPr id="61" name="Прямоугольник: скругленные углы 60">
                <a:extLst>
                  <a:ext uri="{FF2B5EF4-FFF2-40B4-BE49-F238E27FC236}">
                    <a16:creationId xmlns:a16="http://schemas.microsoft.com/office/drawing/2014/main" id="{44ACEBF8-1697-4BA5-976D-41CB68D4FF21}"/>
                  </a:ext>
                </a:extLst>
              </p:cNvPr>
              <p:cNvSpPr/>
              <p:nvPr/>
            </p:nvSpPr>
            <p:spPr>
              <a:xfrm>
                <a:off x="279317" y="4422741"/>
                <a:ext cx="1211062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algorithm</a:t>
                </a:r>
                <a:endParaRPr lang="ru-RU" sz="1400" dirty="0"/>
              </a:p>
            </p:txBody>
          </p:sp>
          <p:sp>
            <p:nvSpPr>
              <p:cNvPr id="62" name="Прямоугольник: скругленные углы 61">
                <a:extLst>
                  <a:ext uri="{FF2B5EF4-FFF2-40B4-BE49-F238E27FC236}">
                    <a16:creationId xmlns:a16="http://schemas.microsoft.com/office/drawing/2014/main" id="{C5B736A8-832C-42FA-902B-7770452AB3C8}"/>
                  </a:ext>
                </a:extLst>
              </p:cNvPr>
              <p:cNvSpPr/>
              <p:nvPr/>
            </p:nvSpPr>
            <p:spPr>
              <a:xfrm>
                <a:off x="1600987" y="4422154"/>
                <a:ext cx="921496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chrono</a:t>
                </a:r>
                <a:endParaRPr lang="ru-RU" sz="1400" dirty="0"/>
              </a:p>
            </p:txBody>
          </p:sp>
          <p:sp>
            <p:nvSpPr>
              <p:cNvPr id="63" name="Прямоугольник: скругленные углы 62">
                <a:extLst>
                  <a:ext uri="{FF2B5EF4-FFF2-40B4-BE49-F238E27FC236}">
                    <a16:creationId xmlns:a16="http://schemas.microsoft.com/office/drawing/2014/main" id="{7A1F786A-3AD0-443B-8713-CD9370D8077E}"/>
                  </a:ext>
                </a:extLst>
              </p:cNvPr>
              <p:cNvSpPr/>
              <p:nvPr/>
            </p:nvSpPr>
            <p:spPr>
              <a:xfrm>
                <a:off x="279317" y="4863668"/>
                <a:ext cx="131725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functional</a:t>
                </a:r>
                <a:endParaRPr lang="ru-RU" sz="1400" dirty="0"/>
              </a:p>
            </p:txBody>
          </p:sp>
          <p:sp>
            <p:nvSpPr>
              <p:cNvPr id="64" name="Прямоугольник: скругленные углы 63">
                <a:extLst>
                  <a:ext uri="{FF2B5EF4-FFF2-40B4-BE49-F238E27FC236}">
                    <a16:creationId xmlns:a16="http://schemas.microsoft.com/office/drawing/2014/main" id="{6E9DDEB6-A42C-49E6-B884-C88747907D31}"/>
                  </a:ext>
                </a:extLst>
              </p:cNvPr>
              <p:cNvSpPr/>
              <p:nvPr/>
            </p:nvSpPr>
            <p:spPr>
              <a:xfrm>
                <a:off x="1707878" y="4870002"/>
                <a:ext cx="1021533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iterator</a:t>
                </a:r>
                <a:endParaRPr lang="ru-RU" sz="1400" dirty="0"/>
              </a:p>
            </p:txBody>
          </p:sp>
          <p:sp>
            <p:nvSpPr>
              <p:cNvPr id="65" name="Прямоугольник: скругленные углы 64">
                <a:extLst>
                  <a:ext uri="{FF2B5EF4-FFF2-40B4-BE49-F238E27FC236}">
                    <a16:creationId xmlns:a16="http://schemas.microsoft.com/office/drawing/2014/main" id="{82F9DA01-1EFC-4127-B5A1-B2E2B50BD324}"/>
                  </a:ext>
                </a:extLst>
              </p:cNvPr>
              <p:cNvSpPr/>
              <p:nvPr/>
            </p:nvSpPr>
            <p:spPr>
              <a:xfrm>
                <a:off x="284059" y="5295824"/>
                <a:ext cx="1206320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stdexcept</a:t>
                </a:r>
                <a:endParaRPr lang="ru-RU" sz="1400" dirty="0"/>
              </a:p>
            </p:txBody>
          </p:sp>
          <p:sp>
            <p:nvSpPr>
              <p:cNvPr id="66" name="Прямоугольник: скругленные углы 65">
                <a:extLst>
                  <a:ext uri="{FF2B5EF4-FFF2-40B4-BE49-F238E27FC236}">
                    <a16:creationId xmlns:a16="http://schemas.microsoft.com/office/drawing/2014/main" id="{F5CE1FD8-138B-4FCC-A136-262CFDD59955}"/>
                  </a:ext>
                </a:extLst>
              </p:cNvPr>
              <p:cNvSpPr/>
              <p:nvPr/>
            </p:nvSpPr>
            <p:spPr>
              <a:xfrm>
                <a:off x="2626043" y="4422154"/>
                <a:ext cx="1080515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memory</a:t>
                </a:r>
                <a:endParaRPr lang="ru-RU" sz="1400" dirty="0"/>
              </a:p>
            </p:txBody>
          </p:sp>
          <p:sp>
            <p:nvSpPr>
              <p:cNvPr id="67" name="Прямоугольник: скругленные углы 66">
                <a:extLst>
                  <a:ext uri="{FF2B5EF4-FFF2-40B4-BE49-F238E27FC236}">
                    <a16:creationId xmlns:a16="http://schemas.microsoft.com/office/drawing/2014/main" id="{D97094AD-73D1-4C4F-8007-5561D2456AE2}"/>
                  </a:ext>
                </a:extLst>
              </p:cNvPr>
              <p:cNvSpPr/>
              <p:nvPr/>
            </p:nvSpPr>
            <p:spPr>
              <a:xfrm>
                <a:off x="1600986" y="5291679"/>
                <a:ext cx="850673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tuple</a:t>
                </a:r>
                <a:endParaRPr lang="ru-RU" sz="1400" dirty="0"/>
              </a:p>
            </p:txBody>
          </p:sp>
          <p:sp>
            <p:nvSpPr>
              <p:cNvPr id="95" name="Прямоугольник: скругленные углы 94">
                <a:extLst>
                  <a:ext uri="{FF2B5EF4-FFF2-40B4-BE49-F238E27FC236}">
                    <a16:creationId xmlns:a16="http://schemas.microsoft.com/office/drawing/2014/main" id="{46584B08-568E-4D02-B61B-D4ED7F96FAE2}"/>
                  </a:ext>
                </a:extLst>
              </p:cNvPr>
              <p:cNvSpPr/>
              <p:nvPr/>
            </p:nvSpPr>
            <p:spPr>
              <a:xfrm>
                <a:off x="2561005" y="5292826"/>
                <a:ext cx="954267" cy="337352"/>
              </a:xfrm>
              <a:prstGeom prst="roundRect">
                <a:avLst>
                  <a:gd name="adj" fmla="val 50000"/>
                </a:avLst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utility</a:t>
                </a:r>
                <a:endParaRPr lang="ru-RU" sz="1400" dirty="0"/>
              </a:p>
            </p:txBody>
          </p:sp>
        </p:grpSp>
        <p:grpSp>
          <p:nvGrpSpPr>
            <p:cNvPr id="98" name="Группа 97">
              <a:extLst>
                <a:ext uri="{FF2B5EF4-FFF2-40B4-BE49-F238E27FC236}">
                  <a16:creationId xmlns:a16="http://schemas.microsoft.com/office/drawing/2014/main" id="{EDFE96B5-11FD-4E02-B3A0-4247E454C854}"/>
                </a:ext>
              </a:extLst>
            </p:cNvPr>
            <p:cNvGrpSpPr/>
            <p:nvPr/>
          </p:nvGrpSpPr>
          <p:grpSpPr>
            <a:xfrm>
              <a:off x="8216885" y="4380970"/>
              <a:ext cx="2345210" cy="1079150"/>
              <a:chOff x="6796606" y="4694681"/>
              <a:chExt cx="2773522" cy="1461060"/>
            </a:xfrm>
          </p:grpSpPr>
          <p:sp>
            <p:nvSpPr>
              <p:cNvPr id="99" name="Прямоугольник 98">
                <a:extLst>
                  <a:ext uri="{FF2B5EF4-FFF2-40B4-BE49-F238E27FC236}">
                    <a16:creationId xmlns:a16="http://schemas.microsoft.com/office/drawing/2014/main" id="{F06EA55D-F299-41A1-85F1-86810AF6F7C2}"/>
                  </a:ext>
                </a:extLst>
              </p:cNvPr>
              <p:cNvSpPr/>
              <p:nvPr/>
            </p:nvSpPr>
            <p:spPr>
              <a:xfrm>
                <a:off x="6796606" y="4700694"/>
                <a:ext cx="2773522" cy="1455047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4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8473164-07D4-4390-B7EE-550B6F904738}"/>
                  </a:ext>
                </a:extLst>
              </p:cNvPr>
              <p:cNvSpPr txBox="1"/>
              <p:nvPr/>
            </p:nvSpPr>
            <p:spPr>
              <a:xfrm>
                <a:off x="6796606" y="4694681"/>
                <a:ext cx="2773522" cy="4166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400" dirty="0"/>
                  <a:t>Вспомогательные</a:t>
                </a:r>
              </a:p>
            </p:txBody>
          </p:sp>
          <p:sp>
            <p:nvSpPr>
              <p:cNvPr id="101" name="Прямоугольник: скругленные углы 100">
                <a:extLst>
                  <a:ext uri="{FF2B5EF4-FFF2-40B4-BE49-F238E27FC236}">
                    <a16:creationId xmlns:a16="http://schemas.microsoft.com/office/drawing/2014/main" id="{B10316B9-4CF7-40D5-ADD6-B1DB6762F7D4}"/>
                  </a:ext>
                </a:extLst>
              </p:cNvPr>
              <p:cNvSpPr/>
              <p:nvPr/>
            </p:nvSpPr>
            <p:spPr>
              <a:xfrm>
                <a:off x="6913542" y="5176573"/>
                <a:ext cx="1223329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exception</a:t>
                </a:r>
                <a:endParaRPr lang="ru-RU" sz="1400" dirty="0"/>
              </a:p>
            </p:txBody>
          </p:sp>
          <p:sp>
            <p:nvSpPr>
              <p:cNvPr id="102" name="Прямоугольник: скругленные углы 101">
                <a:extLst>
                  <a:ext uri="{FF2B5EF4-FFF2-40B4-BE49-F238E27FC236}">
                    <a16:creationId xmlns:a16="http://schemas.microsoft.com/office/drawing/2014/main" id="{8AEA2FD5-F558-4CB1-B535-B2FB44108ADB}"/>
                  </a:ext>
                </a:extLst>
              </p:cNvPr>
              <p:cNvSpPr/>
              <p:nvPr/>
            </p:nvSpPr>
            <p:spPr>
              <a:xfrm>
                <a:off x="8267663" y="5163065"/>
                <a:ext cx="1145089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limits</a:t>
                </a:r>
                <a:endParaRPr lang="ru-RU" sz="1400" dirty="0"/>
              </a:p>
            </p:txBody>
          </p:sp>
          <p:sp>
            <p:nvSpPr>
              <p:cNvPr id="103" name="Прямоугольник: скругленные углы 102">
                <a:extLst>
                  <a:ext uri="{FF2B5EF4-FFF2-40B4-BE49-F238E27FC236}">
                    <a16:creationId xmlns:a16="http://schemas.microsoft.com/office/drawing/2014/main" id="{74F89051-9BA8-4AC0-AD7A-FD4A35783261}"/>
                  </a:ext>
                </a:extLst>
              </p:cNvPr>
              <p:cNvSpPr/>
              <p:nvPr/>
            </p:nvSpPr>
            <p:spPr>
              <a:xfrm>
                <a:off x="6918573" y="5646165"/>
                <a:ext cx="1223329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new</a:t>
                </a:r>
                <a:endParaRPr lang="ru-RU" sz="1400" dirty="0"/>
              </a:p>
            </p:txBody>
          </p:sp>
          <p:sp>
            <p:nvSpPr>
              <p:cNvPr id="104" name="Прямоугольник: скругленные углы 103">
                <a:extLst>
                  <a:ext uri="{FF2B5EF4-FFF2-40B4-BE49-F238E27FC236}">
                    <a16:creationId xmlns:a16="http://schemas.microsoft.com/office/drawing/2014/main" id="{969FBCB6-96F1-45CF-98B8-8463D5C1EF52}"/>
                  </a:ext>
                </a:extLst>
              </p:cNvPr>
              <p:cNvSpPr/>
              <p:nvPr/>
            </p:nvSpPr>
            <p:spPr>
              <a:xfrm>
                <a:off x="8207294" y="5646165"/>
                <a:ext cx="1205458" cy="337352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typeinfo</a:t>
                </a:r>
                <a:endParaRPr lang="ru-RU" sz="1400" dirty="0"/>
              </a:p>
            </p:txBody>
          </p:sp>
        </p:grpSp>
        <p:sp>
          <p:nvSpPr>
            <p:cNvPr id="106" name="Объект 2">
              <a:extLst>
                <a:ext uri="{FF2B5EF4-FFF2-40B4-BE49-F238E27FC236}">
                  <a16:creationId xmlns:a16="http://schemas.microsoft.com/office/drawing/2014/main" id="{9381EAD2-23FD-4E50-8B70-B9ACC9926E01}"/>
                </a:ext>
              </a:extLst>
            </p:cNvPr>
            <p:cNvSpPr txBox="1">
              <a:spLocks/>
            </p:cNvSpPr>
            <p:nvPr/>
          </p:nvSpPr>
          <p:spPr>
            <a:xfrm>
              <a:off x="1230131" y="6317322"/>
              <a:ext cx="9339117" cy="3959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0000"/>
                </a:lnSpc>
                <a:spcBef>
                  <a:spcPts val="600"/>
                </a:spcBef>
                <a:buNone/>
              </a:pPr>
              <a:r>
                <a:rPr lang="ru-RU" sz="1600" dirty="0"/>
                <a:t>(Перечислены не все заголовочные файлы, но большая их часть)</a:t>
              </a:r>
              <a:endParaRPr lang="en-US" sz="1600" dirty="0"/>
            </a:p>
          </p:txBody>
        </p:sp>
      </p:grpSp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3F4A72AF-D19F-4B62-BF74-9A8FBC5C03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64245" b="19910"/>
          <a:stretch/>
        </p:blipFill>
        <p:spPr>
          <a:xfrm>
            <a:off x="11292840" y="-3660"/>
            <a:ext cx="916940" cy="770229"/>
          </a:xfrm>
          <a:prstGeom prst="rect">
            <a:avLst/>
          </a:prstGeom>
          <a:solidFill>
            <a:schemeClr val="bg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52381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2985</Words>
  <Application>Microsoft Office PowerPoint</Application>
  <PresentationFormat>Широкоэкранный</PresentationFormat>
  <Paragraphs>477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Тема Office</vt:lpstr>
      <vt:lpstr>Программирование на C++ и Python</vt:lpstr>
      <vt:lpstr>Зачем изучать C++   ?</vt:lpstr>
      <vt:lpstr>Как мы будем изучать C++</vt:lpstr>
      <vt:lpstr>Ресурсы по C++</vt:lpstr>
      <vt:lpstr>C++ быстрый старт</vt:lpstr>
      <vt:lpstr>Hello, student!</vt:lpstr>
      <vt:lpstr>Потоки ввода-вывода</vt:lpstr>
      <vt:lpstr>Пример: чтение файла</vt:lpstr>
      <vt:lpstr>Чтение из файла</vt:lpstr>
      <vt:lpstr>Пример: строковый поток</vt:lpstr>
      <vt:lpstr>Отступление: pair и tuple</vt:lpstr>
      <vt:lpstr>Отступление: pair и tuple</vt:lpstr>
      <vt:lpstr>Передача аргументов I</vt:lpstr>
      <vt:lpstr>Передача аргументов II</vt:lpstr>
      <vt:lpstr>std::string</vt:lpstr>
      <vt:lpstr>std::vector</vt:lpstr>
      <vt:lpstr>Итерирование</vt:lpstr>
      <vt:lpstr>Заключительный пример</vt:lpstr>
      <vt:lpstr>Считываем данные</vt:lpstr>
      <vt:lpstr>Перегрузка операторов</vt:lpstr>
      <vt:lpstr>Основная логика программы</vt:lpstr>
      <vt:lpstr>main</vt:lpstr>
      <vt:lpstr>Заключение</vt:lpstr>
      <vt:lpstr>Backup</vt:lpstr>
      <vt:lpstr>Стандартная библиотека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Охотников</dc:creator>
  <cp:lastModifiedBy>Никита Охотников</cp:lastModifiedBy>
  <cp:revision>7</cp:revision>
  <dcterms:created xsi:type="dcterms:W3CDTF">2025-09-03T23:08:50Z</dcterms:created>
  <dcterms:modified xsi:type="dcterms:W3CDTF">2025-11-15T01:55:59Z</dcterms:modified>
</cp:coreProperties>
</file>